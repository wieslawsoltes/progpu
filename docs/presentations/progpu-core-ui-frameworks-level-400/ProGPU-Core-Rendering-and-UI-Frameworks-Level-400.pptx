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2132b903a040cf" /><Relationship Type="http://schemas.openxmlformats.org/officeDocument/2006/relationships/extended-properties" Target="/docProps/app.xml" Id="R6b8c43d2b6e54591" /><Relationship Type="http://schemas.openxmlformats.org/officeDocument/2006/relationships/officeDocument" Target="/ppt/presentation.xml" Id="Rae7951a447cd42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f50c9ab31d4bdc"/>
  </p:sldMasterIdLst>
  <p:notesMasterIdLst>
    <p:notesMasterId xmlns:r="http://schemas.openxmlformats.org/officeDocument/2006/relationships" r:id="R7baf02b3c1d0429d"/>
  </p:notesMasterIdLst>
  <p:sldIdLst>
    <p:sldId xmlns:r="http://schemas.openxmlformats.org/officeDocument/2006/relationships" id="256" r:id="Rf1b987918dd2468c"/>
    <p:sldId xmlns:r="http://schemas.openxmlformats.org/officeDocument/2006/relationships" id="257" r:id="R8ff0e35bf83e4633"/>
    <p:sldId xmlns:r="http://schemas.openxmlformats.org/officeDocument/2006/relationships" id="258" r:id="R249855d883a74577"/>
    <p:sldId xmlns:r="http://schemas.openxmlformats.org/officeDocument/2006/relationships" id="259" r:id="R71c49317c9d94330"/>
    <p:sldId xmlns:r="http://schemas.openxmlformats.org/officeDocument/2006/relationships" id="260" r:id="Rdf193afd15124b46"/>
    <p:sldId xmlns:r="http://schemas.openxmlformats.org/officeDocument/2006/relationships" id="261" r:id="Rb03f8989cd65440b"/>
    <p:sldId xmlns:r="http://schemas.openxmlformats.org/officeDocument/2006/relationships" id="262" r:id="Rca5ed61024fd47a0"/>
    <p:sldId xmlns:r="http://schemas.openxmlformats.org/officeDocument/2006/relationships" id="263" r:id="R98a3f3cabf4e461d"/>
    <p:sldId xmlns:r="http://schemas.openxmlformats.org/officeDocument/2006/relationships" id="264" r:id="Ra920e9b192984c6b"/>
    <p:sldId xmlns:r="http://schemas.openxmlformats.org/officeDocument/2006/relationships" id="265" r:id="Ra58b6be73c204b4a"/>
    <p:sldId xmlns:r="http://schemas.openxmlformats.org/officeDocument/2006/relationships" id="266" r:id="Ra4da65c17eab42dd"/>
    <p:sldId xmlns:r="http://schemas.openxmlformats.org/officeDocument/2006/relationships" id="267" r:id="Rbb151e6181fe4f83"/>
    <p:sldId xmlns:r="http://schemas.openxmlformats.org/officeDocument/2006/relationships" id="268" r:id="R3880139ca8c94586"/>
    <p:sldId xmlns:r="http://schemas.openxmlformats.org/officeDocument/2006/relationships" id="269" r:id="R1902f0c3d7454f4b"/>
    <p:sldId xmlns:r="http://schemas.openxmlformats.org/officeDocument/2006/relationships" id="270" r:id="R78137ad9e59c4007"/>
    <p:sldId xmlns:r="http://schemas.openxmlformats.org/officeDocument/2006/relationships" id="271" r:id="Rf700ff683d64401e"/>
    <p:sldId xmlns:r="http://schemas.openxmlformats.org/officeDocument/2006/relationships" id="272" r:id="Re3b51bc104134ede"/>
    <p:sldId xmlns:r="http://schemas.openxmlformats.org/officeDocument/2006/relationships" id="273" r:id="R0f4f9621070742d1"/>
    <p:sldId xmlns:r="http://schemas.openxmlformats.org/officeDocument/2006/relationships" id="274" r:id="Re215ad3f6b9748f0"/>
    <p:sldId xmlns:r="http://schemas.openxmlformats.org/officeDocument/2006/relationships" id="275" r:id="R8cc349537f07420b"/>
    <p:sldId xmlns:r="http://schemas.openxmlformats.org/officeDocument/2006/relationships" id="276" r:id="R57abe725be47486f"/>
    <p:sldId xmlns:r="http://schemas.openxmlformats.org/officeDocument/2006/relationships" id="277" r:id="R6b1f122be7304432"/>
    <p:sldId xmlns:r="http://schemas.openxmlformats.org/officeDocument/2006/relationships" id="278" r:id="R8814b2dece8842f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6e250514bd49c9" /><Relationship Type="http://schemas.openxmlformats.org/officeDocument/2006/relationships/slideMaster" Target="/ppt/slideMasters/slideMaster1.xml" Id="R6ef50c9ab31d4bdc" /><Relationship Type="http://schemas.openxmlformats.org/officeDocument/2006/relationships/notesMaster" Target="/ppt/notesMasters/notesMaster1.xml" Id="R7baf02b3c1d0429d" /><Relationship Type="http://schemas.openxmlformats.org/officeDocument/2006/relationships/presProps" Target="/ppt/presProps.xml" Id="Rc7baa563a82f4dee" /><Relationship Type="http://schemas.openxmlformats.org/officeDocument/2006/relationships/tableStyles" Target="/ppt/tableStyles.xml" Id="Ref03fc7a455141e6" /><Relationship Type="http://schemas.openxmlformats.org/officeDocument/2006/relationships/slide" Target="/ppt/slides/slide1.xml" Id="Rf1b987918dd2468c" /><Relationship Type="http://schemas.openxmlformats.org/officeDocument/2006/relationships/slide" Target="/ppt/slides/slide2.xml" Id="R8ff0e35bf83e4633" /><Relationship Type="http://schemas.openxmlformats.org/officeDocument/2006/relationships/slide" Target="/ppt/slides/slide3.xml" Id="R249855d883a74577" /><Relationship Type="http://schemas.openxmlformats.org/officeDocument/2006/relationships/slide" Target="/ppt/slides/slide4.xml" Id="R71c49317c9d94330" /><Relationship Type="http://schemas.openxmlformats.org/officeDocument/2006/relationships/slide" Target="/ppt/slides/slide5.xml" Id="Rdf193afd15124b46" /><Relationship Type="http://schemas.openxmlformats.org/officeDocument/2006/relationships/slide" Target="/ppt/slides/slide6.xml" Id="Rb03f8989cd65440b" /><Relationship Type="http://schemas.openxmlformats.org/officeDocument/2006/relationships/slide" Target="/ppt/slides/slide7.xml" Id="Rca5ed61024fd47a0" /><Relationship Type="http://schemas.openxmlformats.org/officeDocument/2006/relationships/slide" Target="/ppt/slides/slide8.xml" Id="R98a3f3cabf4e461d" /><Relationship Type="http://schemas.openxmlformats.org/officeDocument/2006/relationships/slide" Target="/ppt/slides/slide9.xml" Id="Ra920e9b192984c6b" /><Relationship Type="http://schemas.openxmlformats.org/officeDocument/2006/relationships/slide" Target="/ppt/slides/slide10.xml" Id="Ra58b6be73c204b4a" /><Relationship Type="http://schemas.openxmlformats.org/officeDocument/2006/relationships/slide" Target="/ppt/slides/slide11.xml" Id="Ra4da65c17eab42dd" /><Relationship Type="http://schemas.openxmlformats.org/officeDocument/2006/relationships/slide" Target="/ppt/slides/slide12.xml" Id="Rbb151e6181fe4f83" /><Relationship Type="http://schemas.openxmlformats.org/officeDocument/2006/relationships/slide" Target="/ppt/slides/slide13.xml" Id="R3880139ca8c94586" /><Relationship Type="http://schemas.openxmlformats.org/officeDocument/2006/relationships/slide" Target="/ppt/slides/slide14.xml" Id="R1902f0c3d7454f4b" /><Relationship Type="http://schemas.openxmlformats.org/officeDocument/2006/relationships/slide" Target="/ppt/slides/slide15.xml" Id="R78137ad9e59c4007" /><Relationship Type="http://schemas.openxmlformats.org/officeDocument/2006/relationships/slide" Target="/ppt/slides/slide16.xml" Id="Rf700ff683d64401e" /><Relationship Type="http://schemas.openxmlformats.org/officeDocument/2006/relationships/slide" Target="/ppt/slides/slide17.xml" Id="Re3b51bc104134ede" /><Relationship Type="http://schemas.openxmlformats.org/officeDocument/2006/relationships/slide" Target="/ppt/slides/slide18.xml" Id="R0f4f9621070742d1" /><Relationship Type="http://schemas.openxmlformats.org/officeDocument/2006/relationships/slide" Target="/ppt/slides/slide19.xml" Id="Re215ad3f6b9748f0" /><Relationship Type="http://schemas.openxmlformats.org/officeDocument/2006/relationships/slide" Target="/ppt/slides/slide20.xml" Id="R8cc349537f07420b" /><Relationship Type="http://schemas.openxmlformats.org/officeDocument/2006/relationships/slide" Target="/ppt/slides/slide21.xml" Id="R57abe725be47486f" /><Relationship Type="http://schemas.openxmlformats.org/officeDocument/2006/relationships/slide" Target="/ppt/slides/slide22.xml" Id="R6b1f122be7304432" /><Relationship Type="http://schemas.openxmlformats.org/officeDocument/2006/relationships/slide" Target="/ppt/slides/slide23.xml" Id="R8814b2dece8842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e2707e663744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463b63a2c243f4" /><Relationship Type="http://schemas.openxmlformats.org/officeDocument/2006/relationships/notesMaster" Target="/ppt/notesMasters/notesMaster1.xml" Id="Rebd2505337234d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d262a5efc04741" /><Relationship Type="http://schemas.openxmlformats.org/officeDocument/2006/relationships/notesMaster" Target="/ppt/notesMasters/notesMaster1.xml" Id="Rba4edd79d2814c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ffb9a88da6486e" /><Relationship Type="http://schemas.openxmlformats.org/officeDocument/2006/relationships/notesMaster" Target="/ppt/notesMasters/notesMaster1.xml" Id="R6b726c62a9f34f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c13ef54a0741dc" /><Relationship Type="http://schemas.openxmlformats.org/officeDocument/2006/relationships/notesMaster" Target="/ppt/notesMasters/notesMaster1.xml" Id="R7242a82ccbbb44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293e691ec54858" /><Relationship Type="http://schemas.openxmlformats.org/officeDocument/2006/relationships/notesMaster" Target="/ppt/notesMasters/notesMaster1.xml" Id="R02a87c5f1a5d49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4c5b49a77c46fb" /><Relationship Type="http://schemas.openxmlformats.org/officeDocument/2006/relationships/notesMaster" Target="/ppt/notesMasters/notesMaster1.xml" Id="R79c4977829344f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b43fca287a4e6c" /><Relationship Type="http://schemas.openxmlformats.org/officeDocument/2006/relationships/notesMaster" Target="/ppt/notesMasters/notesMaster1.xml" Id="R77a5a9fb6d5541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c4fe78275d420c" /><Relationship Type="http://schemas.openxmlformats.org/officeDocument/2006/relationships/notesMaster" Target="/ppt/notesMasters/notesMaster1.xml" Id="R3724f534023d4c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f12fb3f56644b6" /><Relationship Type="http://schemas.openxmlformats.org/officeDocument/2006/relationships/notesMaster" Target="/ppt/notesMasters/notesMaster1.xml" Id="R771686e4eff348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a617a187174ce8" /><Relationship Type="http://schemas.openxmlformats.org/officeDocument/2006/relationships/notesMaster" Target="/ppt/notesMasters/notesMaster1.xml" Id="Ra361513d68424d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18d74387f1460e" /><Relationship Type="http://schemas.openxmlformats.org/officeDocument/2006/relationships/notesMaster" Target="/ppt/notesMasters/notesMaster1.xml" Id="R349d93f2a83246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80d353edd64c8b" /><Relationship Type="http://schemas.openxmlformats.org/officeDocument/2006/relationships/notesMaster" Target="/ppt/notesMasters/notesMaster1.xml" Id="Rb12f0133b17844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5799682682474b" /><Relationship Type="http://schemas.openxmlformats.org/officeDocument/2006/relationships/notesMaster" Target="/ppt/notesMasters/notesMaster1.xml" Id="R5ba8c0ad406843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27a360edfc4460" /><Relationship Type="http://schemas.openxmlformats.org/officeDocument/2006/relationships/notesMaster" Target="/ppt/notesMasters/notesMaster1.xml" Id="R800ec890cb4b45b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8882ef460e42ea" /><Relationship Type="http://schemas.openxmlformats.org/officeDocument/2006/relationships/notesMaster" Target="/ppt/notesMasters/notesMaster1.xml" Id="Rd4c5fd6e9e0b4d8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1460d23a65248a6" /><Relationship Type="http://schemas.openxmlformats.org/officeDocument/2006/relationships/notesMaster" Target="/ppt/notesMasters/notesMaster1.xml" Id="Reb4ea43dac38410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f8ebd674f6423e" /><Relationship Type="http://schemas.openxmlformats.org/officeDocument/2006/relationships/notesMaster" Target="/ppt/notesMasters/notesMaster1.xml" Id="R27a026572d9540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301200fd9674de2" /><Relationship Type="http://schemas.openxmlformats.org/officeDocument/2006/relationships/notesMaster" Target="/ppt/notesMasters/notesMaster1.xml" Id="R84fc7aa6dbbd43a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ff450c19b834cfa" /><Relationship Type="http://schemas.openxmlformats.org/officeDocument/2006/relationships/notesMaster" Target="/ppt/notesMasters/notesMaster1.xml" Id="Rac756e0eda0e41c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d4270a14e354e04" /><Relationship Type="http://schemas.openxmlformats.org/officeDocument/2006/relationships/notesMaster" Target="/ppt/notesMasters/notesMaster1.xml" Id="Ref63d2e5298a4e1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25fc35730694819" /><Relationship Type="http://schemas.openxmlformats.org/officeDocument/2006/relationships/notesMaster" Target="/ppt/notesMasters/notesMaster1.xml" Id="R7deffec1200743b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83ad1ca96d24dca" /><Relationship Type="http://schemas.openxmlformats.org/officeDocument/2006/relationships/notesMaster" Target="/ppt/notesMasters/notesMaster1.xml" Id="Ra2ebcf71669c45a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11bf554a7ed41ca" /><Relationship Type="http://schemas.openxmlformats.org/officeDocument/2006/relationships/notesMaster" Target="/ppt/notesMasters/notesMaster1.xml" Id="R801e07896d0e4a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Premise: ProGPU is a rendering substrate with reusable framework seams—not three separate renderers. The talk follows one pixel-affecting mutation from framework semantics through retained scene compilation to WebGPU submission. Sources: README.md Architectural Hierarchy; src/ProGPU.Scene; src/ProGPU.Backend.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left to right. The architectural fan-in occurs at ProGPU.Scene.Visual and DrawingContext/RenderCommand—not at final pixels. This allows all frontends to share scene caching, batching, vector/text coverage, effects, and presentation. Sources: README.md project architecture; ProGPU.Scene; ProGPU.Wpf composition bridge; LibreWinForms portable host.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framework owns semantics; the scene owns retained render state; the compositor owns compilation and ordering; the backend owns WebGPU calls. Portable DTOs prevent WPF/WinForms types from leaking into shared hot paths. Sources: README.md Architectural Hierarchy; ProGPU.Wpf.Interop; AGENTS.md A0.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adapter cost is paid when semantic state changes, not by maintaining a private renderer per framework. Sources: ProGPU.WinUI/Core/FrameworkElement.cs; wpf/src/ProGPU.Wpf/Composition/Mil/WpfVisualTreeRenderer.cs; winforms LibreWinForms portable host and System.Drawing.Common.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Window.RenderFrameCore owns the core ordering. Samples and framework adapters must not update animations twice or request frames from OnRender. Sources: ProGPU.WinUI/Core/Window.cs; ProGPU.Scene/CompositorHostFrame.cs; AGENTS.md Protect Hot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validity cannot substitute for render validity. A property may leave final bounds unchanged while changing clipping, brush state, content, or pixels. Sources: ProGPU.Layout/LayoutNode.cs; ProGPU.Scene/Visual.cs; Compositor.CanReuseCompiledScene.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Stable tree identity is essential. Reparenting or rebuilding unchanged controls destroys layout, theme, and scene-cache locality. Sources: ProGPU.Scene/Visual.cs; ContainerVisual implementation; Compositor.CompileVisualTree; AGENTS.md navigation-tree identity.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OnRender records into a pooled DrawingContext. Common text remains one DrawGlyphRun command with shaped indices and positions retained; paths retain analytic geometry. Sources: ProGPU.Scene/RenderCommand.cs; DrawingContext files; Compositor.CompileVisualTree.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compiler deliberately batches adjacent compatible work while retaining scene order. StaticCompilationContext and provider paths allow large retained datasets to bypass per-primitive regeneration. Sources: ProGPU.Scene/Compositor.cs; StaticCompilationContext.cs; ICompositorExtension.cs.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Reuse is safe only when every input that can alter pixels remains valid. Recoverable PathAtlas exhaustion resets once and retries the same frame before moved UVs are submitted. Sources: Compositor.RenderSceneCore, CanReuseCompiledScene, CaptureCompiledScene; AGENTS.md PathAtlas recovery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CommitPendingDrawCalls preserves correct z-order while avoiding one draw per primitive. Buffers grow geometrically and are reused. Sources: Compositor.SwitchBatchType, CommitPendingDrawCalls, EnsureBufferSize.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Shaders are embedded source loaded through ShaderResource and cached. Fixed WGSL is never built from C# strings in a hot path. Sources: ProGPU.Backend/GpuBuffer.cs, GpuTexture.cs, RenderPipelineCache.cs, ShaderResource.cs; AGENTS.md shader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basis for crisp fast zoom: camera transforms and uniforms change while geometry, glyph outlines, coverage, and textures remain reusable. Sources: RetainedGlyphGeometry.cs; ProGPU.Vector/PathAtlas.cs; ProGPU.Text/GlyphAtlas.cs; Compositor glyph/path/image compilation.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separation prevents missing-glyph first frames, blurry DXF text, and per-frame glyph geometry churn. Sources: AGENTS.md text contracts; ProGPU.WinUI/Controls/TextVisual.cs; ProGPU.Text; Compositor CompileGlyphRunCommand.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Effects and mutable DrawingVisual content deliberately restrict whole-scene reuse unless they expose an immutable version contract. Sources: Compositor effect/layer paths; Extensions directory; SharedCompositorCache.cs; README CacheAsLayer and extension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new framework can use CPU visual-tree hit testing, compositor GPU hit testing, or a hybrid without changing render commands. Sources: ProGPU.WinUI/Input/InputSystem.cs; ProGPU.Scene/GpuRenderCommandHitTestCache.cs; CompositorOptions.cs.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host can be GLFW/Silk, browser canvas, WPF portable window host, or another shell. It must preserve logical/physical/DPI separation and one animation update per frame. Sources: ProGPU.Backend native platforms; ProGPU.Browser host; ProGpuWpfWindowHost.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WinUI is “closest” to the core because its layout nodes are scene visuals. That is an implementation choice, not a requirement for other frameworks. Sources: ProGPU.WinUI/Core/DependencyObject.cs, FrameworkElement.cs, Window.cs; Controls; ProGPU.Layout.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reflection-driven drawing hot path is required. Retained branch maps and invalidation tracking let unchanged WPF content remain unchanged ProGPU scene content. Sources: src/ProGPU.Wpf.Interop; wpf/src/ProGPU.Wpf/Composition/Mil; ProGpuRetainedCompositionCommandSink.cs.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LibreWinForms does not need to emulate GDI pixels as the renderer. Its compatible System.Drawing layer maps drawing operations to retained ProGPU primitives, while the portable WindowsFormsHost connects application/control lifetime. Sources: ProGPU/System.Drawing.Common; winforms LibreWinForms.System.Windows.Forms and LibreWinForms.WindowsFormsIntegration.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key architectural payoff: fixes and optimizations in the compositor, text/vector engines, atlas recovery, device lifecycle, or backend benefit all frameworks—provided adapters preserve retained identity and invalidation. Sources: architecture diagram paths cited throughout the talk.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 layout, compile, upload, render, draw count, atlas churn, and memory separately. Required regression coverage includes unchanged reuse, invalidation, target/DPI changes, mutable drawings, atlas reset/repack, and hit-test options. Sources: AGENTS.md Rendering Performance Regression Contract; LayerRenderTests; CompositorReviewRegressionTests.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a new framework: define property/layout/input semantics; preserve stable node and resource identity; map drawing to retained commands; provide a host; choose CPU/GPU hit testing; then adopt the compositor correctness tests. The renderer and shaders remain shared.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31ea4dfbde41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6c2ab5cd59488d" /><Relationship Type="http://schemas.openxmlformats.org/officeDocument/2006/relationships/slideLayout" Target="/ppt/slideLayouts/slideLayout1.xml" Id="Rea14939711f245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14939711f245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32032470c4ccd" /><Relationship Type="http://schemas.openxmlformats.org/officeDocument/2006/relationships/notesSlide" Target="/ppt/notesSlides/notesSlide1.xml" Id="R9fec0b06417149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56652d1f2494c" /><Relationship Type="http://schemas.openxmlformats.org/officeDocument/2006/relationships/image" Target="/ppt/media/image.png" Id="R783164a9ceca42ab" /><Relationship Type="http://schemas.openxmlformats.org/officeDocument/2006/relationships/notesSlide" Target="/ppt/notesSlides/notesSlide2.xml" Id="R95d623b86ef74b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ce16d08674f84" /><Relationship Type="http://schemas.openxmlformats.org/officeDocument/2006/relationships/notesSlide" Target="/ppt/notesSlides/notesSlide3.xml" Id="R6adafe5e96fb49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f222b7aba4d5e" /><Relationship Type="http://schemas.openxmlformats.org/officeDocument/2006/relationships/notesSlide" Target="/ppt/notesSlides/notesSlide4.xml" Id="R95f7044afee746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64f81dec14392" /><Relationship Type="http://schemas.openxmlformats.org/officeDocument/2006/relationships/notesSlide" Target="/ppt/notesSlides/notesSlide5.xml" Id="Rf84f198775304f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df924eef44b60" /><Relationship Type="http://schemas.openxmlformats.org/officeDocument/2006/relationships/notesSlide" Target="/ppt/notesSlides/notesSlide6.xml" Id="Rd11b6ea9191a4d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d77b4637f4409" /><Relationship Type="http://schemas.openxmlformats.org/officeDocument/2006/relationships/notesSlide" Target="/ppt/notesSlides/notesSlide7.xml" Id="R5623dc36a2cf44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af8311cab4974" /><Relationship Type="http://schemas.openxmlformats.org/officeDocument/2006/relationships/notesSlide" Target="/ppt/notesSlides/notesSlide8.xml" Id="R51d6cee4fd8241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02837f64d4567" /><Relationship Type="http://schemas.openxmlformats.org/officeDocument/2006/relationships/notesSlide" Target="/ppt/notesSlides/notesSlide9.xml" Id="Re28d4e6eab1443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f0b56df5f4973" /><Relationship Type="http://schemas.openxmlformats.org/officeDocument/2006/relationships/image" Target="/ppt/media/image2.png" Id="R0321f1a3e2f8451c" /><Relationship Type="http://schemas.openxmlformats.org/officeDocument/2006/relationships/notesSlide" Target="/ppt/notesSlides/notesSlide10.xml" Id="Ra7171b786e7448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69213f5b449a6" /><Relationship Type="http://schemas.openxmlformats.org/officeDocument/2006/relationships/notesSlide" Target="/ppt/notesSlides/notesSlide11.xml" Id="Rf20bec901c5c48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57070ad024dcf" /><Relationship Type="http://schemas.openxmlformats.org/officeDocument/2006/relationships/notesSlide" Target="/ppt/notesSlides/notesSlide12.xml" Id="R8d25fcab9c964d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e7d660f764063" /><Relationship Type="http://schemas.openxmlformats.org/officeDocument/2006/relationships/image" Target="/ppt/media/image3.png" Id="R937561fe79a742d0" /><Relationship Type="http://schemas.openxmlformats.org/officeDocument/2006/relationships/notesSlide" Target="/ppt/notesSlides/notesSlide13.xml" Id="R3b3818f88bbe47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2169fe8c54408" /><Relationship Type="http://schemas.openxmlformats.org/officeDocument/2006/relationships/notesSlide" Target="/ppt/notesSlides/notesSlide14.xml" Id="R5f8467e7e3934de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291b6baf84fbe" /><Relationship Type="http://schemas.openxmlformats.org/officeDocument/2006/relationships/notesSlide" Target="/ppt/notesSlides/notesSlide15.xml" Id="R72d68cfefca84f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05f110c0d47fe" /><Relationship Type="http://schemas.openxmlformats.org/officeDocument/2006/relationships/notesSlide" Target="/ppt/notesSlides/notesSlide16.xml" Id="R0bdeae2afa7448e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77b5cd3b54931" /><Relationship Type="http://schemas.openxmlformats.org/officeDocument/2006/relationships/notesSlide" Target="/ppt/notesSlides/notesSlide17.xml" Id="R6779fdbdd8494c0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03ecaf4a34962" /><Relationship Type="http://schemas.openxmlformats.org/officeDocument/2006/relationships/notesSlide" Target="/ppt/notesSlides/notesSlide18.xml" Id="Rd14b9240a53a4b8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9ca2c407e4820" /><Relationship Type="http://schemas.openxmlformats.org/officeDocument/2006/relationships/notesSlide" Target="/ppt/notesSlides/notesSlide19.xml" Id="R35709dfe143a450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d760d81fc4b27" /><Relationship Type="http://schemas.openxmlformats.org/officeDocument/2006/relationships/notesSlide" Target="/ppt/notesSlides/notesSlide20.xml" Id="R03c5e8647be844c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7325cda234f8e" /><Relationship Type="http://schemas.openxmlformats.org/officeDocument/2006/relationships/image" Target="/ppt/media/image4.png" Id="Red78145afbba4d7a" /><Relationship Type="http://schemas.openxmlformats.org/officeDocument/2006/relationships/notesSlide" Target="/ppt/notesSlides/notesSlide21.xml" Id="R55acb6a47821478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aefb1ad6f49cd" /><Relationship Type="http://schemas.openxmlformats.org/officeDocument/2006/relationships/notesSlide" Target="/ppt/notesSlides/notesSlide22.xml" Id="R06f30916875f4df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20f0fc1b14e5e" /><Relationship Type="http://schemas.openxmlformats.org/officeDocument/2006/relationships/notesSlide" Target="/ppt/notesSlides/notesSlide23.xml" Id="R29ee9ea4f45445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26CFE3E-7C6B-4347-B878-AE747B63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6675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PROGPU CORE RENDERING · LEVEL 400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F69EC77-0A62-403B-96F9-A7326C3C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57350"/>
            <a:ext cx="1028700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GPU substrate</a:t>
            </a:r>
          </a:p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 multiple UI frameworks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BED9B8F-7856-4A48-AEED-D57C8DF1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05375"/>
            <a:ext cx="8763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Retained scene, compositor, resources, text, vectors, hosts, and the adapter seams behind ProGPU.WinUI, LibreWPF, and LibreWinForms.</a:t>
            </a:r>
          </a:p>
        </p:txBody>
      </p:sp>
    </p:spTree>
    <p:extLst>
      <p:ext uri="{BB962C8B-B14F-4D97-AF65-F5344CB8AC3E}">
        <p14:creationId xmlns:p14="http://schemas.microsoft.com/office/powerpoint/2010/main" val="966512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">
            <a:extLst xmlns:a="http://schemas.openxmlformats.org/drawingml/2006/main">
              <a:ext uri="{FF2B5EF4-FFF2-40B4-BE49-F238E27FC236}">
                <a16:creationId xmlns:a16="http://schemas.microsoft.com/office/drawing/2014/main" id="{86984A93-4D10-4DA1-A9D8-9D010037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Framework semantics converge before GPU compilation</a:t>
            </a:r>
          </a:p>
        </p:txBody>
      </p:sp>
      <p:sp>
        <p:nvSpPr>
          <p:cNvPr id="2" name="live-copy">
            <a:extLst xmlns:a="http://schemas.openxmlformats.org/drawingml/2006/main">
              <a:ext uri="{FF2B5EF4-FFF2-40B4-BE49-F238E27FC236}">
                <a16:creationId xmlns:a16="http://schemas.microsoft.com/office/drawing/2014/main" id="{B40876F0-F88C-4C20-92C1-EA155F5B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85950"/>
            <a:ext cx="4905375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execution architecture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ProGPU.WinUI records directly into the retained scene. LibreWPF replays portable drawing/MIL data into retained scene objects. LibreWinForms preserves Control/Paint and System.Drawing semantics, then feeds the same scene command model.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The compositor, atlases, buffers, shaders, and WebGPU backend are shared.</a:t>
            </a:r>
          </a:p>
        </p:txBody>
      </p:sp>
      <p:sp>
        <p:nvSpPr>
          <p:cNvPr id="3" name="live-image-backing">
            <a:extLst xmlns:a="http://schemas.openxmlformats.org/drawingml/2006/main">
              <a:ext uri="{FF2B5EF4-FFF2-40B4-BE49-F238E27FC236}">
                <a16:creationId xmlns:a16="http://schemas.microsoft.com/office/drawing/2014/main" id="{8582252C-126C-4DEA-9D34-D491BF36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6115050" cy="3438525"/>
          </a:xfrm>
          <a:prstGeom xmlns:a="http://schemas.openxmlformats.org/drawingml/2006/main" prst="roundRect">
            <a:avLst>
              <a:gd name="adj" fmla="val 2216"/>
            </a:avLst>
          </a:prstGeom>
          <a:solidFill xmlns:a="http://schemas.openxmlformats.org/drawingml/2006/main">
            <a:srgbClr val="0C0C1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live-caption-band">
            <a:extLst xmlns:a="http://schemas.openxmlformats.org/drawingml/2006/main">
              <a:ext uri="{FF2B5EF4-FFF2-40B4-BE49-F238E27FC236}">
                <a16:creationId xmlns:a16="http://schemas.microsoft.com/office/drawing/2014/main" id="{50C0FE48-C5A4-44EC-8F85-D3D4CE95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91125"/>
            <a:ext cx="6115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ve-caption">
            <a:extLst xmlns:a="http://schemas.openxmlformats.org/drawingml/2006/main">
              <a:ext uri="{FF2B5EF4-FFF2-40B4-BE49-F238E27FC236}">
                <a16:creationId xmlns:a16="http://schemas.microsoft.com/office/drawing/2014/main" id="{7C3EBDDF-E5A5-47D5-ABC1-13A5D31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410200"/>
            <a:ext cx="561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FRAMEWORK FRONTENDS  →  RETAINED SCENE  →  COMPOSITOR  →  WEBGPU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7433747C-2553-4343-A7A7-653EA2BC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164a9ceca42ab"/>
          <a:stretch xmlns:a="http://schemas.openxmlformats.org/drawingml/2006/main"/>
        </p:blipFill>
        <p:spPr>
          <a:xfrm xmlns:a="http://schemas.openxmlformats.org/drawingml/2006/main">
            <a:off x="5677958" y="2644926"/>
            <a:ext cx="6112933" cy="1272873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07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4">
            <a:extLst xmlns:a="http://schemas.openxmlformats.org/drawingml/2006/main">
              <a:ext uri="{FF2B5EF4-FFF2-40B4-BE49-F238E27FC236}">
                <a16:creationId xmlns:a16="http://schemas.microsoft.com/office/drawing/2014/main" id="{A5FBB64F-188D-4068-82D5-C0DFDBC9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Ownership boundaries keep UI policy out of the renderer</a:t>
            </a:r>
          </a:p>
        </p:txBody>
      </p:sp>
      <p:sp>
        <p:nvSpPr>
          <p:cNvPr id="2" name="retained-1">
            <a:extLst xmlns:a="http://schemas.openxmlformats.org/drawingml/2006/main">
              <a:ext uri="{FF2B5EF4-FFF2-40B4-BE49-F238E27FC236}">
                <a16:creationId xmlns:a16="http://schemas.microsoft.com/office/drawing/2014/main" id="{92CD907F-B7D7-4F78-B535-07E033D8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 Framework layer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Properties, styling, templates, layout policy, focus, routed input, controls, and application lifetime.</a:t>
            </a:r>
          </a:p>
        </p:txBody>
      </p:sp>
      <p:sp>
        <p:nvSpPr>
          <p:cNvPr id="3" name="retained-2">
            <a:extLst xmlns:a="http://schemas.openxmlformats.org/drawingml/2006/main">
              <a:ext uri="{FF2B5EF4-FFF2-40B4-BE49-F238E27FC236}">
                <a16:creationId xmlns:a16="http://schemas.microsoft.com/office/drawing/2014/main" id="{D7835C8D-BD29-4354-A3A2-8B7949BA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 Adapter layer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Maps framework drawing/state into stable Visuals, DrawingContext operations, portable DTOs, and resource identities.</a:t>
            </a:r>
          </a:p>
        </p:txBody>
      </p:sp>
      <p:sp>
        <p:nvSpPr>
          <p:cNvPr id="4" name="retained-3">
            <a:extLst xmlns:a="http://schemas.openxmlformats.org/drawingml/2006/main">
              <a:ext uri="{FF2B5EF4-FFF2-40B4-BE49-F238E27FC236}">
                <a16:creationId xmlns:a16="http://schemas.microsoft.com/office/drawing/2014/main" id="{5797D21C-0452-4285-8B14-49FCA5D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0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 Scene/compositor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Retained nodes, transforms, clips, effects, command IR, cache predicate, batching, uploads, and render passes.</a:t>
            </a:r>
          </a:p>
        </p:txBody>
      </p:sp>
      <p:sp>
        <p:nvSpPr>
          <p:cNvPr id="5" name="retained-4">
            <a:extLst xmlns:a="http://schemas.openxmlformats.org/drawingml/2006/main">
              <a:ext uri="{FF2B5EF4-FFF2-40B4-BE49-F238E27FC236}">
                <a16:creationId xmlns:a16="http://schemas.microsoft.com/office/drawing/2014/main" id="{0E28302A-D126-4EB1-999D-C9AE73EB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00500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 Backend/platform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IWebGpuApi, device/queue/surface, buffers, textures, pipelines, shaders, native/browser host, DPI, and input source.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4CA81C0A-7133-4980-A090-910A6CD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292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frontends, three recording seams, one retained core</a:t>
            </a:r>
          </a:p>
        </p:txBody>
      </p:sp>
      <p:cxnSp>
        <p:nvCxnSpPr>
          <p:cNvPr id="21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ProGPU.WinUI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FrameworkElement already derives through LayoutNode/Visual. OnRender records public DrawingContext commands directly.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LibreWPF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Portable visual state and render-data snapshots are decoded; WpfVisualTreeRenderer updates retained branches and command sinks.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LibreWinForms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Control.OnPaint uses ProGPU-backed Graphics. WindowsFormsHost connects lifecycle/input while drawing reaches shared commands.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DIRECT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PORTABLE REPLAY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PAINT ADAPTER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Host frame: the deterministic outer transaction</a:t>
            </a:r>
          </a:p>
        </p:txBody>
      </p:sp>
      <p:cxnSp>
        <p:nvCxnSpPr>
          <p:cNvPr id="21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Service/UI phase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Drain dispatcher and platform input; advance animations once; execute framework callbacks and invalidations.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Layout phase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Measure and arrange only invalid nodes. Logical size remains separate from framebuffer pixels and DPI.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Render/present phase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Acquire target, call Compositor.RenderScene with CompositorHostFrame, submit passes, present, release transient handles.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DISPATCH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LAYOUT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GPU FRAME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Pixel correctness begins with two independent validity systems</a:t>
            </a:r>
          </a:p>
        </p:txBody>
      </p:sp>
      <p:cxnSp>
        <p:nvCxnSpPr>
          <p:cNvPr id="21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Layout validity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Measure/arrange flags propagate according to property semantics; equal cached inputs can skip layout work.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Visual validity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pixel-affecting mutation calls Visual.Invalidate, increments ChangeVersion, marks dirty, and propagates to the root.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Scene validity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compositor compares retained versions plus target, DPI, atlas, overlay, effect, and layer state before reuse.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MEASURE / ARRANGE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CHANGEVERSION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CACHE PREDICATE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Visual is the retained identity and transform boundary</a:t>
            </a:r>
          </a:p>
        </p:txBody>
      </p:sp>
      <p:cxnSp>
        <p:nvCxnSpPr>
          <p:cNvPr id="21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Local state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Offset, size, transform, opacity, clips, masks, effects, hit-test ID, visibility, and CacheAsLayer live on stable nodes.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Tree state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ContainerVisual preserves child identity and ordering. Parent invalidation makes descendant mutations visible at the root.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Composite scope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Compilation derives global transforms, clip/opacity stacks, offscreen layer/effect scopes, then recurses in visual order.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NODE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TREE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COMPOSITE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DrawingContext is a retained command recorder—not an immediate canvas</a:t>
            </a:r>
          </a:p>
        </p:txBody>
      </p:sp>
      <p:cxnSp>
        <p:nvCxnSpPr>
          <p:cNvPr id="21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Framework records intent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DrawRect, DrawPath, DrawGlyphRun, DrawTexture, state pushes/pops, pictures, static DXF, meshes, and extensions.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Commands retain payloads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RenderCommand carries geometry/resource identity, style, transforms, sampling, providers, and extension payloads.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Compositor lowers later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Compilation resolves atlases, text/vector vertices, textures, masks, blend state, and draw calls against the current target.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PUBLIC API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COMMAND IR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LOWERING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4">
            <a:extLst xmlns:a="http://schemas.openxmlformats.org/drawingml/2006/main">
              <a:ext uri="{FF2B5EF4-FFF2-40B4-BE49-F238E27FC236}">
                <a16:creationId xmlns:a16="http://schemas.microsoft.com/office/drawing/2014/main" id="{A5FBB64F-188D-4068-82D5-C0DFDBC9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Compositor compilation is an ordered lowering pipeline</a:t>
            </a:r>
          </a:p>
        </p:txBody>
      </p:sp>
      <p:sp>
        <p:nvSpPr>
          <p:cNvPr id="2" name="retained-1">
            <a:extLst xmlns:a="http://schemas.openxmlformats.org/drawingml/2006/main">
              <a:ext uri="{FF2B5EF4-FFF2-40B4-BE49-F238E27FC236}">
                <a16:creationId xmlns:a16="http://schemas.microsoft.com/office/drawing/2014/main" id="{92CD907F-B7D7-4F78-B535-07E033D8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 Traverse + state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Compose transforms; push/pop rectangular and geometry clips, opacity, blend modes, masks, effects, and layer scopes.</a:t>
            </a:r>
          </a:p>
        </p:txBody>
      </p:sp>
      <p:sp>
        <p:nvSpPr>
          <p:cNvPr id="3" name="retained-2">
            <a:extLst xmlns:a="http://schemas.openxmlformats.org/drawingml/2006/main">
              <a:ext uri="{FF2B5EF4-FFF2-40B4-BE49-F238E27FC236}">
                <a16:creationId xmlns:a16="http://schemas.microsoft.com/office/drawing/2014/main" id="{D7835C8D-BD29-4354-A3A2-8B7949BA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 Resolve primitives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Map command kinds to vector/text/texture vertices, static buffers, retained pictures, or ICompositorExtension pipelines.</a:t>
            </a:r>
          </a:p>
        </p:txBody>
      </p:sp>
      <p:sp>
        <p:nvSpPr>
          <p:cNvPr id="4" name="retained-3">
            <a:extLst xmlns:a="http://schemas.openxmlformats.org/drawingml/2006/main">
              <a:ext uri="{FF2B5EF4-FFF2-40B4-BE49-F238E27FC236}">
                <a16:creationId xmlns:a16="http://schemas.microsoft.com/office/drawing/2014/main" id="{5797D21C-0452-4285-8B14-49FCA5D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0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 Preserve Z order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Commit pending vector/text work at material, texture, clip, effect, extension, and layer boundaries—never global-sort pixels.</a:t>
            </a:r>
          </a:p>
        </p:txBody>
      </p:sp>
      <p:sp>
        <p:nvSpPr>
          <p:cNvPr id="5" name="retained-4">
            <a:extLst xmlns:a="http://schemas.openxmlformats.org/drawingml/2006/main">
              <a:ext uri="{FF2B5EF4-FFF2-40B4-BE49-F238E27FC236}">
                <a16:creationId xmlns:a16="http://schemas.microsoft.com/office/drawing/2014/main" id="{0E28302A-D126-4EB1-999D-C9AE73EB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00500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 Emit GPU work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Ensure buffer capacity, upload changed spans, bind cached layouts/pipelines/resources, encode passes, submit, and present.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4CA81C0A-7133-4980-A090-910A6CD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2925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">
            <a:extLst xmlns:a="http://schemas.openxmlformats.org/drawingml/2006/main">
              <a:ext uri="{FF2B5EF4-FFF2-40B4-BE49-F238E27FC236}">
                <a16:creationId xmlns:a16="http://schemas.microsoft.com/office/drawing/2014/main" id="{86984A93-4D10-4DA1-A9D8-9D010037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compiled-scene hit skips compilation—not rendering</a:t>
            </a:r>
          </a:p>
        </p:txBody>
      </p:sp>
      <p:sp>
        <p:nvSpPr>
          <p:cNvPr id="2" name="live-copy">
            <a:extLst xmlns:a="http://schemas.openxmlformats.org/drawingml/2006/main">
              <a:ext uri="{FF2B5EF4-FFF2-40B4-BE49-F238E27FC236}">
                <a16:creationId xmlns:a16="http://schemas.microsoft.com/office/drawing/2014/main" id="{B40876F0-F88C-4C20-92C1-EA155F5B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85950"/>
            <a:ext cx="4905375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Pixel-valid reuse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RenderSceneCore checks root identity/ChangeVersion, logical and physical targets, viewport/DPI, GlyphAtlas and PathAtlas generations, tooltips, external layers, cached-layer textures, diagnostics, masks, effects, and mutable drawing state.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 hit reuses draw calls and buffers, then still encodes the current pass and presents.</a:t>
            </a:r>
          </a:p>
        </p:txBody>
      </p:sp>
      <p:sp>
        <p:nvSpPr>
          <p:cNvPr id="3" name="live-image-backing">
            <a:extLst xmlns:a="http://schemas.openxmlformats.org/drawingml/2006/main">
              <a:ext uri="{FF2B5EF4-FFF2-40B4-BE49-F238E27FC236}">
                <a16:creationId xmlns:a16="http://schemas.microsoft.com/office/drawing/2014/main" id="{8582252C-126C-4DEA-9D34-D491BF36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6115050" cy="3438525"/>
          </a:xfrm>
          <a:prstGeom xmlns:a="http://schemas.openxmlformats.org/drawingml/2006/main" prst="roundRect">
            <a:avLst>
              <a:gd name="adj" fmla="val 2216"/>
            </a:avLst>
          </a:prstGeom>
          <a:solidFill xmlns:a="http://schemas.openxmlformats.org/drawingml/2006/main">
            <a:srgbClr val="0C0C1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live-caption-band">
            <a:extLst xmlns:a="http://schemas.openxmlformats.org/drawingml/2006/main">
              <a:ext uri="{FF2B5EF4-FFF2-40B4-BE49-F238E27FC236}">
                <a16:creationId xmlns:a16="http://schemas.microsoft.com/office/drawing/2014/main" id="{50C0FE48-C5A4-44EC-8F85-D3D4CE95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91125"/>
            <a:ext cx="6115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ve-caption">
            <a:extLst xmlns:a="http://schemas.openxmlformats.org/drawingml/2006/main">
              <a:ext uri="{FF2B5EF4-FFF2-40B4-BE49-F238E27FC236}">
                <a16:creationId xmlns:a16="http://schemas.microsoft.com/office/drawing/2014/main" id="{7C3EBDDF-E5A5-47D5-ABC1-13A5D31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410200"/>
            <a:ext cx="561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STRICT PREDICATE  →  REPLAY OR RECOMPILE  →  ALWAYS PRESENT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7433747C-2553-4343-A7A7-653EA2BC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1f1a3e2f8451c"/>
          <a:stretch xmlns:a="http://schemas.openxmlformats.org/drawingml/2006/main"/>
        </p:blipFill>
        <p:spPr>
          <a:xfrm xmlns:a="http://schemas.openxmlformats.org/drawingml/2006/main">
            <a:off x="5677958" y="2751192"/>
            <a:ext cx="6112933" cy="1060342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07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Batching is dynamic, adjacent, and order-preserving</a:t>
            </a:r>
          </a:p>
        </p:txBody>
      </p:sp>
      <p:cxnSp>
        <p:nvCxnSpPr>
          <p:cNvPr id="21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Accumulate compatible spans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Vector and text vertices append into reusable lists while material/clip/blend state remains compatible.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Commit at semantic barriers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Texture draws, state changes, effects, masks, extension passes, and visual layers flush pending spans in place.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Replay retained draw calls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draw-call list references stable buffers/resources; unchanged scenes reuse it without recompiling the visual tree.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APPEND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BARRIER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REPLAY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Resource identity is retained above every backend call</a:t>
            </a:r>
          </a:p>
        </p:txBody>
      </p:sp>
      <p:cxnSp>
        <p:nvCxnSpPr>
          <p:cNvPr id="21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Create/cache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GpuBuffer, GpuTexture, samplers, layouts, bind groups, shader modules, and RenderPipelineCache own device identities.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Reuse/age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Stable scene commands reference resources; caches mark frame use and evict bounded stale entries instead of rebuilding per draw.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Recover coherently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Resize, atlas generation changes, resource disposal, surface changes, or device loss invalidate the precise dependent state.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IDENTITY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LIFETIME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INVALIDATION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">
            <a:extLst xmlns:a="http://schemas.openxmlformats.org/drawingml/2006/main">
              <a:ext uri="{FF2B5EF4-FFF2-40B4-BE49-F238E27FC236}">
                <a16:creationId xmlns:a16="http://schemas.microsoft.com/office/drawing/2014/main" id="{86984A93-4D10-4DA1-A9D8-9D010037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Geometry and coverage stay retained all the way to the GPU</a:t>
            </a:r>
          </a:p>
        </p:txBody>
      </p:sp>
      <p:sp>
        <p:nvSpPr>
          <p:cNvPr id="2" name="live-copy">
            <a:extLst xmlns:a="http://schemas.openxmlformats.org/drawingml/2006/main">
              <a:ext uri="{FF2B5EF4-FFF2-40B4-BE49-F238E27FC236}">
                <a16:creationId xmlns:a16="http://schemas.microsoft.com/office/drawing/2014/main" id="{B40876F0-F88C-4C20-92C1-EA155F5B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85950"/>
            <a:ext cx="4905375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Stable identity before placement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Paths keep analytic segments; glyph runs keep shaped glyph indices and positions; images keep texture identity and sampling. Cache keys include the quality-sensitive scale/phase data.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Path/Glyph atlas generations move only when UV content moves; final placement remains transform-driven.</a:t>
            </a:r>
          </a:p>
        </p:txBody>
      </p:sp>
      <p:sp>
        <p:nvSpPr>
          <p:cNvPr id="3" name="live-image-backing">
            <a:extLst xmlns:a="http://schemas.openxmlformats.org/drawingml/2006/main">
              <a:ext uri="{FF2B5EF4-FFF2-40B4-BE49-F238E27FC236}">
                <a16:creationId xmlns:a16="http://schemas.microsoft.com/office/drawing/2014/main" id="{8582252C-126C-4DEA-9D34-D491BF36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6115050" cy="3438525"/>
          </a:xfrm>
          <a:prstGeom xmlns:a="http://schemas.openxmlformats.org/drawingml/2006/main" prst="roundRect">
            <a:avLst>
              <a:gd name="adj" fmla="val 2216"/>
            </a:avLst>
          </a:prstGeom>
          <a:solidFill xmlns:a="http://schemas.openxmlformats.org/drawingml/2006/main">
            <a:srgbClr val="0C0C1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live-caption-band">
            <a:extLst xmlns:a="http://schemas.openxmlformats.org/drawingml/2006/main">
              <a:ext uri="{FF2B5EF4-FFF2-40B4-BE49-F238E27FC236}">
                <a16:creationId xmlns:a16="http://schemas.microsoft.com/office/drawing/2014/main" id="{50C0FE48-C5A4-44EC-8F85-D3D4CE95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91125"/>
            <a:ext cx="6115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ve-caption">
            <a:extLst xmlns:a="http://schemas.openxmlformats.org/drawingml/2006/main">
              <a:ext uri="{FF2B5EF4-FFF2-40B4-BE49-F238E27FC236}">
                <a16:creationId xmlns:a16="http://schemas.microsoft.com/office/drawing/2014/main" id="{7C3EBDDF-E5A5-47D5-ABC1-13A5D31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410200"/>
            <a:ext cx="561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RETAIN OUTLINE / TEXTURE  →  CACHE COVERAGE  →  TRANSFORMED REPLAY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7433747C-2553-4343-A7A7-653EA2BC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561fe79a742d0"/>
          <a:stretch xmlns:a="http://schemas.openxmlformats.org/drawingml/2006/main"/>
        </p:blipFill>
        <p:spPr>
          <a:xfrm xmlns:a="http://schemas.openxmlformats.org/drawingml/2006/main">
            <a:off x="5677958" y="2646406"/>
            <a:ext cx="6112933" cy="1269913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07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4">
            <a:extLst xmlns:a="http://schemas.openxmlformats.org/drawingml/2006/main">
              <a:ext uri="{FF2B5EF4-FFF2-40B4-BE49-F238E27FC236}">
                <a16:creationId xmlns:a16="http://schemas.microsoft.com/office/drawing/2014/main" id="{A5FBB64F-188D-4068-82D5-C0DFDBC9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Text quality is a retained-data and physical-pixel contract</a:t>
            </a:r>
          </a:p>
        </p:txBody>
      </p:sp>
      <p:sp>
        <p:nvSpPr>
          <p:cNvPr id="2" name="retained-1">
            <a:extLst xmlns:a="http://schemas.openxmlformats.org/drawingml/2006/main">
              <a:ext uri="{FF2B5EF4-FFF2-40B4-BE49-F238E27FC236}">
                <a16:creationId xmlns:a16="http://schemas.microsoft.com/office/drawing/2014/main" id="{92CD907F-B7D7-4F78-B535-07E033D8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 Shape once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Text layout produces glyph indices and positions. RenderCommand.DrawGlyphRun preserves them—no repeated character-map lookup.</a:t>
            </a:r>
          </a:p>
        </p:txBody>
      </p:sp>
      <p:sp>
        <p:nvSpPr>
          <p:cNvPr id="3" name="retained-2">
            <a:extLst xmlns:a="http://schemas.openxmlformats.org/drawingml/2006/main">
              <a:ext uri="{FF2B5EF4-FFF2-40B4-BE49-F238E27FC236}">
                <a16:creationId xmlns:a16="http://schemas.microsoft.com/office/drawing/2014/main" id="{D7835C8D-BD29-4354-A3A2-8B7949BA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 Retain outlines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Common solid text is one glyph-run command; vector/CFF fallbacks reuse cached outlines with bounded local/device phase keys.</a:t>
            </a:r>
          </a:p>
        </p:txBody>
      </p:sp>
      <p:sp>
        <p:nvSpPr>
          <p:cNvPr id="4" name="retained-3">
            <a:extLst xmlns:a="http://schemas.openxmlformats.org/drawingml/2006/main">
              <a:ext uri="{FF2B5EF4-FFF2-40B4-BE49-F238E27FC236}">
                <a16:creationId xmlns:a16="http://schemas.microsoft.com/office/drawing/2014/main" id="{5797D21C-0452-4285-8B14-49FCA5D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0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 Raster at device scale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Glyph coverage uses physical size and current DPI; positions snap to quarter physical pixels then map back to logical space.</a:t>
            </a:r>
          </a:p>
        </p:txBody>
      </p:sp>
      <p:sp>
        <p:nvSpPr>
          <p:cNvPr id="5" name="retained-4">
            <a:extLst xmlns:a="http://schemas.openxmlformats.org/drawingml/2006/main">
              <a:ext uri="{FF2B5EF4-FFF2-40B4-BE49-F238E27FC236}">
                <a16:creationId xmlns:a16="http://schemas.microsoft.com/office/drawing/2014/main" id="{0E28302A-D126-4EB1-999D-C9AE73EB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00500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 Invalidate precisely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Text/font/content mutations rebuild layout; caret, selection, and hover invalidate paint only; atlas generation guards UV reuse.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4CA81C0A-7133-4980-A090-910A6CD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2925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4">
            <a:extLst xmlns:a="http://schemas.openxmlformats.org/drawingml/2006/main">
              <a:ext uri="{FF2B5EF4-FFF2-40B4-BE49-F238E27FC236}">
                <a16:creationId xmlns:a16="http://schemas.microsoft.com/office/drawing/2014/main" id="{A5FBB64F-188D-4068-82D5-C0DFDBC9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Offscreen composition and extensions remain first-class scene work</a:t>
            </a:r>
          </a:p>
        </p:txBody>
      </p:sp>
      <p:sp>
        <p:nvSpPr>
          <p:cNvPr id="2" name="retained-1">
            <a:extLst xmlns:a="http://schemas.openxmlformats.org/drawingml/2006/main">
              <a:ext uri="{FF2B5EF4-FFF2-40B4-BE49-F238E27FC236}">
                <a16:creationId xmlns:a16="http://schemas.microsoft.com/office/drawing/2014/main" id="{92CD907F-B7D7-4F78-B535-07E033D8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 CacheAsLayer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stable subtree renders once into a GpuTexture; reuse requires the same owner, clean state, texture identity, size, and device.</a:t>
            </a:r>
          </a:p>
        </p:txBody>
      </p:sp>
      <p:sp>
        <p:nvSpPr>
          <p:cNvPr id="3" name="retained-2">
            <a:extLst xmlns:a="http://schemas.openxmlformats.org/drawingml/2006/main">
              <a:ext uri="{FF2B5EF4-FFF2-40B4-BE49-F238E27FC236}">
                <a16:creationId xmlns:a16="http://schemas.microsoft.com/office/drawing/2014/main" id="{D7835C8D-BD29-4354-A3A2-8B7949BA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 Effects + masks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Dynamic source/destination textures and intermediate passes preserve opacity, blend, clip, backdrop, and shader-effect semantics.</a:t>
            </a:r>
          </a:p>
        </p:txBody>
      </p:sp>
      <p:sp>
        <p:nvSpPr>
          <p:cNvPr id="4" name="retained-3">
            <a:extLst xmlns:a="http://schemas.openxmlformats.org/drawingml/2006/main">
              <a:ext uri="{FF2B5EF4-FFF2-40B4-BE49-F238E27FC236}">
                <a16:creationId xmlns:a16="http://schemas.microsoft.com/office/drawing/2014/main" id="{5797D21C-0452-4285-8B14-49FCA5D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0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 Extension pipelines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ICompositorExtension lowers static DXF, charts, splines, 3D, hatches, images, and ShaderToy without forking the scene model.</a:t>
            </a:r>
          </a:p>
        </p:txBody>
      </p:sp>
      <p:sp>
        <p:nvSpPr>
          <p:cNvPr id="5" name="retained-4">
            <a:extLst xmlns:a="http://schemas.openxmlformats.org/drawingml/2006/main">
              <a:ext uri="{FF2B5EF4-FFF2-40B4-BE49-F238E27FC236}">
                <a16:creationId xmlns:a16="http://schemas.microsoft.com/office/drawing/2014/main" id="{0E28302A-D126-4EB1-999D-C9AE73EB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00500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 Retained providers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GpuPicture and IRenderDataProvider replay large immutable command/data sets without reconstructing managed objects per frame.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4CA81C0A-7133-4980-A090-910A6CD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2925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4">
            <a:extLst xmlns:a="http://schemas.openxmlformats.org/drawingml/2006/main">
              <a:ext uri="{FF2B5EF4-FFF2-40B4-BE49-F238E27FC236}">
                <a16:creationId xmlns:a16="http://schemas.microsoft.com/office/drawing/2014/main" id="{A5FBB64F-188D-4068-82D5-C0DFDBC9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Rendering and interaction share transforms—but not one mandatory hit-test engine</a:t>
            </a:r>
          </a:p>
        </p:txBody>
      </p:sp>
      <p:sp>
        <p:nvSpPr>
          <p:cNvPr id="2" name="retained-1">
            <a:extLst xmlns:a="http://schemas.openxmlformats.org/drawingml/2006/main">
              <a:ext uri="{FF2B5EF4-FFF2-40B4-BE49-F238E27FC236}">
                <a16:creationId xmlns:a16="http://schemas.microsoft.com/office/drawing/2014/main" id="{92CD907F-B7D7-4F78-B535-07E033D8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 CPU framework hit testing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ProGPU.WinUI InputSystem walks the visual tree with inverse transforms, clips, z-order, enablement, and control bounds.</a:t>
            </a:r>
          </a:p>
        </p:txBody>
      </p:sp>
      <p:sp>
        <p:nvSpPr>
          <p:cNvPr id="3" name="retained-2">
            <a:extLst xmlns:a="http://schemas.openxmlformats.org/drawingml/2006/main">
              <a:ext uri="{FF2B5EF4-FFF2-40B4-BE49-F238E27FC236}">
                <a16:creationId xmlns:a16="http://schemas.microsoft.com/office/drawing/2014/main" id="{D7835C8D-BD29-4354-A3A2-8B7949BA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 Optional GPU index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compositor can build/query a GPU render-command hit-test index for geometry-heavy hosts and diagnostics.</a:t>
            </a:r>
          </a:p>
        </p:txBody>
      </p:sp>
      <p:sp>
        <p:nvSpPr>
          <p:cNvPr id="4" name="retained-3">
            <a:extLst xmlns:a="http://schemas.openxmlformats.org/drawingml/2006/main">
              <a:ext uri="{FF2B5EF4-FFF2-40B4-BE49-F238E27FC236}">
                <a16:creationId xmlns:a16="http://schemas.microsoft.com/office/drawing/2014/main" id="{5797D21C-0452-4285-8B14-49FCA5D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0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 Independent switches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EnableCompiledSceneCache and EnableGpuHitTesting are separate; WinUI avoids duplicate GPU compilation for its CPU tree path.</a:t>
            </a:r>
          </a:p>
        </p:txBody>
      </p:sp>
      <p:sp>
        <p:nvSpPr>
          <p:cNvPr id="5" name="retained-4">
            <a:extLst xmlns:a="http://schemas.openxmlformats.org/drawingml/2006/main">
              <a:ext uri="{FF2B5EF4-FFF2-40B4-BE49-F238E27FC236}">
                <a16:creationId xmlns:a16="http://schemas.microsoft.com/office/drawing/2014/main" id="{0E28302A-D126-4EB1-999D-C9AE73EB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00500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 Platform injection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Hosts normalize pointer, keyboard, text, focus, drag/drop, cursor, DPI, clipboard, and storage into framework-owned services.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4CA81C0A-7133-4980-A090-910A6CD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22925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platform host supplies services—not rendering policy</a:t>
            </a:r>
          </a:p>
        </p:txBody>
      </p:sp>
      <p:cxnSp>
        <p:nvCxnSpPr>
          <p:cNvPr id="21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Native/browser window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Create surface and WgpuContext; publish logical size, physical framebuffer, viewport, display scale, and frame timing.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Framework lifetime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Own dispatcher integration, activation, popups, input injection, storage/clipboard/launcher, and shutdown semantics.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Scene transaction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Provide root/external layers/tooltips and invoke the same Compositor.RenderScene contract for every frontend.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SURFACE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SERVICES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COMPOSITOR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ProGPU.WinUI is the direct framework implementation</a:t>
            </a:r>
          </a:p>
        </p:txBody>
      </p:sp>
      <p:cxnSp>
        <p:nvCxnSpPr>
          <p:cNvPr id="21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Property/layout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DependencyObject stores values and metadata; FrameworkElement invalidates measure, arrange, or pixels according to semantics.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Controls/templates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trees, resources, themes, text, virtualization, and routed input keep stable visual identities across state changes.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Rendering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FrameworkElement/Visual OnRender records commands; Window owns frame order; InputSystem owns CPU tree hit testing.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DP + LAYOUT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UI SEMANTICS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DIRECT SCENE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LibreWPF: portable semantics into a retained ProGPU scene</a:t>
            </a:r>
          </a:p>
        </p:txBody>
      </p:sp>
      <p:cxnSp>
        <p:nvCxnSpPr>
          <p:cNvPr id="21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Portable state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Typed visual, layout, window, drawing, and render-data DTOs cross assembly boundaries without reflection.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Retained replay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visual-tree renderer and MIL decoder update branch maps, resource registries, and only invalid content.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Native sink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composition sink maps brushes, paths, glyphs, images, clips, effects, caches, and 3D into ProGPU.Scene.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PORTABLE DTO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MIL / TREE REPLAY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RETAINED SINK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5">
            <a:extLst xmlns:a="http://schemas.openxmlformats.org/drawingml/2006/main">
              <a:ext uri="{FF2B5EF4-FFF2-40B4-BE49-F238E27FC236}">
                <a16:creationId xmlns:a16="http://schemas.microsoft.com/office/drawing/2014/main" id="{1AE7B18F-0204-47DF-8751-03D267ED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LibreWinForms keeps WinForms behavior while replacing native GDI rendering</a:t>
            </a:r>
          </a:p>
        </p:txBody>
      </p:sp>
      <p:sp>
        <p:nvSpPr>
          <p:cNvPr id="2" name="debug-mode">
            <a:extLst xmlns:a="http://schemas.openxmlformats.org/drawingml/2006/main">
              <a:ext uri="{FF2B5EF4-FFF2-40B4-BE49-F238E27FC236}">
                <a16:creationId xmlns:a16="http://schemas.microsoft.com/office/drawing/2014/main" id="{4C1A0435-CEC7-4115-ACAE-9D47C4AE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514350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WinForms semantic surface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Application and Control lifecycle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Handle-compatible portable hosting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Layout, focus, messages, invalidation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OnPaint / PaintEventArgs contract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System.Drawing.Graphics API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WindowsFormsIntegration host</a:t>
            </a:r>
          </a:p>
        </p:txBody>
      </p:sp>
      <p:sp>
        <p:nvSpPr>
          <p:cNvPr id="3" name="release-mode">
            <a:extLst xmlns:a="http://schemas.openxmlformats.org/drawingml/2006/main">
              <a:ext uri="{FF2B5EF4-FFF2-40B4-BE49-F238E27FC236}">
                <a16:creationId xmlns:a16="http://schemas.microsoft.com/office/drawing/2014/main" id="{449BCF37-B8E2-4BDA-8E80-48D2C1FF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Shared ProGPU execution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ProGPU-backed brushes, pens, paths, text, images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Graphics records retained drawing intent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Host supplies WPF-compatible integration/input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Commands converge on ProGPU.Scene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Same compositor, atlases, effects, pipelines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Same desktop/browser-capable backend seam</a:t>
            </a:r>
          </a:p>
        </p:txBody>
      </p:sp>
      <p:sp>
        <p:nvSpPr>
          <p:cNvPr id="4" name="mode-accent-left">
            <a:extLst xmlns:a="http://schemas.openxmlformats.org/drawingml/2006/main">
              <a:ext uri="{FF2B5EF4-FFF2-40B4-BE49-F238E27FC236}">
                <a16:creationId xmlns:a16="http://schemas.microsoft.com/office/drawing/2014/main" id="{3289F1FE-5FAA-47F8-B21D-49548584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mode-accent-right">
            <a:extLst xmlns:a="http://schemas.openxmlformats.org/drawingml/2006/main">
              <a:ext uri="{FF2B5EF4-FFF2-40B4-BE49-F238E27FC236}">
                <a16:creationId xmlns:a16="http://schemas.microsoft.com/office/drawing/2014/main" id="{3C04500A-1A00-423E-B305-9F1EE73B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6954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mode-summary">
            <a:extLst xmlns:a="http://schemas.openxmlformats.org/drawingml/2006/main">
              <a:ext uri="{FF2B5EF4-FFF2-40B4-BE49-F238E27FC236}">
                <a16:creationId xmlns:a16="http://schemas.microsoft.com/office/drawing/2014/main" id="{F60522A4-6B47-40EB-BBC4-0CB9F91D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19750"/>
            <a:ext cx="952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Compatibility stays at the API edge; retained GPU identity and batching stay in the shared core.</a:t>
            </a:r>
          </a:p>
        </p:txBody>
      </p:sp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FFF729F6-AD3B-44C3-AE8C-B4EFCF3C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707101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">
            <a:extLst xmlns:a="http://schemas.openxmlformats.org/drawingml/2006/main">
              <a:ext uri="{FF2B5EF4-FFF2-40B4-BE49-F238E27FC236}">
                <a16:creationId xmlns:a16="http://schemas.microsoft.com/office/drawing/2014/main" id="{86984A93-4D10-4DA1-A9D8-9D010037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 frontends converge on the same performance substrate</a:t>
            </a:r>
          </a:p>
        </p:txBody>
      </p:sp>
      <p:sp>
        <p:nvSpPr>
          <p:cNvPr id="2" name="live-copy">
            <a:extLst xmlns:a="http://schemas.openxmlformats.org/drawingml/2006/main">
              <a:ext uri="{FF2B5EF4-FFF2-40B4-BE49-F238E27FC236}">
                <a16:creationId xmlns:a16="http://schemas.microsoft.com/office/drawing/2014/main" id="{B40876F0-F88C-4C20-92C1-EA155F5B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85950"/>
            <a:ext cx="4905375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Shared after convergence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frontend ultimately supplies stable scene identity plus drawing/resource intent. From that point onward, the same ChangeVersion propagation, compiler, z-ordered batching, buffers, textures, path/glyph atlases, effects, extension pipelines, WGSL, WebGPU device, and presentation path apply.</a:t>
            </a:r>
          </a:p>
        </p:txBody>
      </p:sp>
      <p:sp>
        <p:nvSpPr>
          <p:cNvPr id="3" name="live-image-backing">
            <a:extLst xmlns:a="http://schemas.openxmlformats.org/drawingml/2006/main">
              <a:ext uri="{FF2B5EF4-FFF2-40B4-BE49-F238E27FC236}">
                <a16:creationId xmlns:a16="http://schemas.microsoft.com/office/drawing/2014/main" id="{8582252C-126C-4DEA-9D34-D491BF36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6115050" cy="3438525"/>
          </a:xfrm>
          <a:prstGeom xmlns:a="http://schemas.openxmlformats.org/drawingml/2006/main" prst="roundRect">
            <a:avLst>
              <a:gd name="adj" fmla="val 2216"/>
            </a:avLst>
          </a:prstGeom>
          <a:solidFill xmlns:a="http://schemas.openxmlformats.org/drawingml/2006/main">
            <a:srgbClr val="0C0C1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live-caption-band">
            <a:extLst xmlns:a="http://schemas.openxmlformats.org/drawingml/2006/main">
              <a:ext uri="{FF2B5EF4-FFF2-40B4-BE49-F238E27FC236}">
                <a16:creationId xmlns:a16="http://schemas.microsoft.com/office/drawing/2014/main" id="{50C0FE48-C5A4-44EC-8F85-D3D4CE95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91125"/>
            <a:ext cx="6115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ve-caption">
            <a:extLst xmlns:a="http://schemas.openxmlformats.org/drawingml/2006/main">
              <a:ext uri="{FF2B5EF4-FFF2-40B4-BE49-F238E27FC236}">
                <a16:creationId xmlns:a16="http://schemas.microsoft.com/office/drawing/2014/main" id="{7C3EBDDF-E5A5-47D5-ABC1-13A5D31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410200"/>
            <a:ext cx="561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DIFFERENT SEMANTICS  ·  SHARED RETENTION  ·  SHARED GPU EXECUTION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7433747C-2553-4343-A7A7-653EA2BC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8145afbba4d7a"/>
          <a:stretch xmlns:a="http://schemas.openxmlformats.org/drawingml/2006/main"/>
        </p:blipFill>
        <p:spPr>
          <a:xfrm xmlns:a="http://schemas.openxmlformats.org/drawingml/2006/main">
            <a:off x="5818007" y="1562100"/>
            <a:ext cx="5832835" cy="3438525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078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5">
            <a:extLst xmlns:a="http://schemas.openxmlformats.org/drawingml/2006/main">
              <a:ext uri="{FF2B5EF4-FFF2-40B4-BE49-F238E27FC236}">
                <a16:creationId xmlns:a16="http://schemas.microsoft.com/office/drawing/2014/main" id="{1AE7B18F-0204-47DF-8751-03D267ED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Performance and correctness are one retained-rendering contract</a:t>
            </a:r>
          </a:p>
        </p:txBody>
      </p:sp>
      <p:sp>
        <p:nvSpPr>
          <p:cNvPr id="2" name="debug-mode">
            <a:extLst xmlns:a="http://schemas.openxmlformats.org/drawingml/2006/main">
              <a:ext uri="{FF2B5EF4-FFF2-40B4-BE49-F238E27FC236}">
                <a16:creationId xmlns:a16="http://schemas.microsoft.com/office/drawing/2014/main" id="{4C1A0435-CEC7-4115-ACAE-9D47C4AE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514350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framework adapters must preserve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Stable visual/resource identity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Precise pixel invalidation and ChangeVersion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Layout vs paint validity separation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Shaped glyph indices and retained outlines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Analytic path topology and image sampling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Ordered state scopes and dynamic content versions</a:t>
            </a:r>
          </a:p>
        </p:txBody>
      </p:sp>
      <p:sp>
        <p:nvSpPr>
          <p:cNvPr id="3" name="release-mode">
            <a:extLst xmlns:a="http://schemas.openxmlformats.org/drawingml/2006/main">
              <a:ext uri="{FF2B5EF4-FFF2-40B4-BE49-F238E27FC236}">
                <a16:creationId xmlns:a16="http://schemas.microsoft.com/office/drawing/2014/main" id="{449BCF37-B8E2-4BDA-8E80-48D2C1FF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the core guarantees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Strict compiled-scene pixel-validity checks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Adjacent z-ordered batching and reused buffers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Bounded atlas/cache generations and recovery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Physical-pixel/DPI-aware text and vector quality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Independent hit-testing policy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Shared shaders, effects, extensions, and hosts</a:t>
            </a:r>
          </a:p>
        </p:txBody>
      </p:sp>
      <p:sp>
        <p:nvSpPr>
          <p:cNvPr id="4" name="mode-accent-left">
            <a:extLst xmlns:a="http://schemas.openxmlformats.org/drawingml/2006/main">
              <a:ext uri="{FF2B5EF4-FFF2-40B4-BE49-F238E27FC236}">
                <a16:creationId xmlns:a16="http://schemas.microsoft.com/office/drawing/2014/main" id="{3289F1FE-5FAA-47F8-B21D-49548584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mode-accent-right">
            <a:extLst xmlns:a="http://schemas.openxmlformats.org/drawingml/2006/main">
              <a:ext uri="{FF2B5EF4-FFF2-40B4-BE49-F238E27FC236}">
                <a16:creationId xmlns:a16="http://schemas.microsoft.com/office/drawing/2014/main" id="{3C04500A-1A00-423E-B305-9F1EE73B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6954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mode-summary">
            <a:extLst xmlns:a="http://schemas.openxmlformats.org/drawingml/2006/main">
              <a:ext uri="{FF2B5EF4-FFF2-40B4-BE49-F238E27FC236}">
                <a16:creationId xmlns:a16="http://schemas.microsoft.com/office/drawing/2014/main" id="{F60522A4-6B47-40EB-BBC4-0CB9F91D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19750"/>
            <a:ext cx="952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Never improve FPS by dropping invalidation, lowering coverage quality, rebuilding stable trees, or rasterizing retained vectors every frame.</a:t>
            </a:r>
          </a:p>
        </p:txBody>
      </p:sp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FFF729F6-AD3B-44C3-AE8C-B4EFCF3C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7071018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BF09421D-852C-41C5-A7CE-A96CE44D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9055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IMPLEMENTATION PLAYBOOK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9B4C5950-C747-434C-ABAC-ACD83942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38300"/>
            <a:ext cx="1047750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Bring semantics and identity.</a:t>
            </a:r>
          </a:p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Reuse the renderer.</a:t>
            </a:r>
          </a:p>
        </p:txBody>
      </p:sp>
      <p:sp>
        <p:nvSpPr>
          <p:cNvPr id="3" name="close-details">
            <a:extLst xmlns:a="http://schemas.openxmlformats.org/drawingml/2006/main">
              <a:ext uri="{FF2B5EF4-FFF2-40B4-BE49-F238E27FC236}">
                <a16:creationId xmlns:a16="http://schemas.microsoft.com/office/drawing/2014/main" id="{15FF0F0C-40C9-4866-8517-EDAA13B6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000625"/>
            <a:ext cx="5905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500"/>
              </a:spcAft>
              <a:buNone/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Frontend → stable Visual / portable adapter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00"/>
              </a:spcAft>
              <a:buNone/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Drawing → DrawingContext / RenderCommand / provider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Frame → CompositorHostFrame → Compositor.RenderScene</a:t>
            </a:r>
          </a:p>
        </p:txBody>
      </p:sp>
      <p:sp>
        <p:nvSpPr>
          <p:cNvPr id="4" name="close-sources">
            <a:extLst xmlns:a="http://schemas.openxmlformats.org/drawingml/2006/main">
              <a:ext uri="{FF2B5EF4-FFF2-40B4-BE49-F238E27FC236}">
                <a16:creationId xmlns:a16="http://schemas.microsoft.com/office/drawing/2014/main" id="{5A5684A3-B23B-4729-8954-DEB47447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43575"/>
            <a:ext cx="5219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Code map: ProGPU.Scene · ProGPU.Backend · ProGPU.Layout · ProGPU.WinUI · ProGPU.Wpf.Interop · LibreWPF ProGPU.Wpf · LibreWinForms</a:t>
            </a:r>
          </a:p>
        </p:txBody>
      </p:sp>
    </p:spTree>
    <p:extLst>
      <p:ext uri="{BB962C8B-B14F-4D97-AF65-F5344CB8AC3E}">
        <p14:creationId xmlns:p14="http://schemas.microsoft.com/office/powerpoint/2010/main" val="1214664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2026-07-16T21:20:21.4290000Z</dcterms:created>
  <dcterms:modified xsi:type="dcterms:W3CDTF">2026-07-16T21:20:21.4290000Z</dcterms:modified>
</coreProperties>
</file>