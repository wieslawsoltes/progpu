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0230bfa7ab4173" /><Relationship Type="http://schemas.openxmlformats.org/officeDocument/2006/relationships/extended-properties" Target="/docProps/app.xml" Id="R3884b9ff09984395" /><Relationship Type="http://schemas.openxmlformats.org/officeDocument/2006/relationships/officeDocument" Target="/ppt/presentation.xml" Id="R488a699f15f14f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dce7717b99459f"/>
  </p:sldMasterIdLst>
  <p:notesMasterIdLst>
    <p:notesMasterId xmlns:r="http://schemas.openxmlformats.org/officeDocument/2006/relationships" r:id="R6cd6f9a471f04dc6"/>
  </p:notesMasterIdLst>
  <p:sldIdLst>
    <p:sldId xmlns:r="http://schemas.openxmlformats.org/officeDocument/2006/relationships" id="256" r:id="Rdcc0939893af433f"/>
    <p:sldId xmlns:r="http://schemas.openxmlformats.org/officeDocument/2006/relationships" id="257" r:id="Ra31e8a7e0fb44b7b"/>
    <p:sldId xmlns:r="http://schemas.openxmlformats.org/officeDocument/2006/relationships" id="258" r:id="R733105c299aa4491"/>
    <p:sldId xmlns:r="http://schemas.openxmlformats.org/officeDocument/2006/relationships" id="259" r:id="Rb1d0f9a7b3d04ba7"/>
    <p:sldId xmlns:r="http://schemas.openxmlformats.org/officeDocument/2006/relationships" id="260" r:id="Reb2eba2fcaef477f"/>
    <p:sldId xmlns:r="http://schemas.openxmlformats.org/officeDocument/2006/relationships" id="261" r:id="Rb024c244f2434d96"/>
    <p:sldId xmlns:r="http://schemas.openxmlformats.org/officeDocument/2006/relationships" id="262" r:id="R84d1eca5f55746de"/>
    <p:sldId xmlns:r="http://schemas.openxmlformats.org/officeDocument/2006/relationships" id="263" r:id="Rb030ce1dc70a471d"/>
    <p:sldId xmlns:r="http://schemas.openxmlformats.org/officeDocument/2006/relationships" id="264" r:id="R0f68c5ad17a04408"/>
    <p:sldId xmlns:r="http://schemas.openxmlformats.org/officeDocument/2006/relationships" id="265" r:id="Rba282299f8184f9c"/>
    <p:sldId xmlns:r="http://schemas.openxmlformats.org/officeDocument/2006/relationships" id="266" r:id="Rc540988b105f4134"/>
    <p:sldId xmlns:r="http://schemas.openxmlformats.org/officeDocument/2006/relationships" id="267" r:id="R75871d4eedcd4d00"/>
    <p:sldId xmlns:r="http://schemas.openxmlformats.org/officeDocument/2006/relationships" id="268" r:id="Rb978b785b52b42e5"/>
    <p:sldId xmlns:r="http://schemas.openxmlformats.org/officeDocument/2006/relationships" id="269" r:id="R504464a283464f29"/>
    <p:sldId xmlns:r="http://schemas.openxmlformats.org/officeDocument/2006/relationships" id="270" r:id="R2e91cc974f2742c4"/>
    <p:sldId xmlns:r="http://schemas.openxmlformats.org/officeDocument/2006/relationships" id="271" r:id="Ra4542439ca0d4423"/>
    <p:sldId xmlns:r="http://schemas.openxmlformats.org/officeDocument/2006/relationships" id="272" r:id="R4e09f314da454863"/>
    <p:sldId xmlns:r="http://schemas.openxmlformats.org/officeDocument/2006/relationships" id="273" r:id="R0d6529c0d2a54f67"/>
    <p:sldId xmlns:r="http://schemas.openxmlformats.org/officeDocument/2006/relationships" id="274" r:id="R756155f29da54eb7"/>
    <p:sldId xmlns:r="http://schemas.openxmlformats.org/officeDocument/2006/relationships" id="275" r:id="R99e46dec102840f4"/>
    <p:sldId xmlns:r="http://schemas.openxmlformats.org/officeDocument/2006/relationships" id="276" r:id="R52010196b3a44970"/>
    <p:sldId xmlns:r="http://schemas.openxmlformats.org/officeDocument/2006/relationships" id="277" r:id="R6c51ca772133461a"/>
    <p:sldId xmlns:r="http://schemas.openxmlformats.org/officeDocument/2006/relationships" id="278" r:id="Rc6a40a8939224bb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aa407f92724570" /><Relationship Type="http://schemas.openxmlformats.org/officeDocument/2006/relationships/slideMaster" Target="/ppt/slideMasters/slideMaster1.xml" Id="R97dce7717b99459f" /><Relationship Type="http://schemas.openxmlformats.org/officeDocument/2006/relationships/notesMaster" Target="/ppt/notesMasters/notesMaster1.xml" Id="R6cd6f9a471f04dc6" /><Relationship Type="http://schemas.openxmlformats.org/officeDocument/2006/relationships/presProps" Target="/ppt/presProps.xml" Id="R67e2374e43cf403c" /><Relationship Type="http://schemas.openxmlformats.org/officeDocument/2006/relationships/tableStyles" Target="/ppt/tableStyles.xml" Id="R7ba341d94bb24f5d" /><Relationship Type="http://schemas.openxmlformats.org/officeDocument/2006/relationships/slide" Target="/ppt/slides/slide1.xml" Id="Rdcc0939893af433f" /><Relationship Type="http://schemas.openxmlformats.org/officeDocument/2006/relationships/slide" Target="/ppt/slides/slide2.xml" Id="Ra31e8a7e0fb44b7b" /><Relationship Type="http://schemas.openxmlformats.org/officeDocument/2006/relationships/slide" Target="/ppt/slides/slide3.xml" Id="R733105c299aa4491" /><Relationship Type="http://schemas.openxmlformats.org/officeDocument/2006/relationships/slide" Target="/ppt/slides/slide4.xml" Id="Rb1d0f9a7b3d04ba7" /><Relationship Type="http://schemas.openxmlformats.org/officeDocument/2006/relationships/slide" Target="/ppt/slides/slide5.xml" Id="Reb2eba2fcaef477f" /><Relationship Type="http://schemas.openxmlformats.org/officeDocument/2006/relationships/slide" Target="/ppt/slides/slide6.xml" Id="Rb024c244f2434d96" /><Relationship Type="http://schemas.openxmlformats.org/officeDocument/2006/relationships/slide" Target="/ppt/slides/slide7.xml" Id="R84d1eca5f55746de" /><Relationship Type="http://schemas.openxmlformats.org/officeDocument/2006/relationships/slide" Target="/ppt/slides/slide8.xml" Id="Rb030ce1dc70a471d" /><Relationship Type="http://schemas.openxmlformats.org/officeDocument/2006/relationships/slide" Target="/ppt/slides/slide9.xml" Id="R0f68c5ad17a04408" /><Relationship Type="http://schemas.openxmlformats.org/officeDocument/2006/relationships/slide" Target="/ppt/slides/slide10.xml" Id="Rba282299f8184f9c" /><Relationship Type="http://schemas.openxmlformats.org/officeDocument/2006/relationships/slide" Target="/ppt/slides/slide11.xml" Id="Rc540988b105f4134" /><Relationship Type="http://schemas.openxmlformats.org/officeDocument/2006/relationships/slide" Target="/ppt/slides/slide12.xml" Id="R75871d4eedcd4d00" /><Relationship Type="http://schemas.openxmlformats.org/officeDocument/2006/relationships/slide" Target="/ppt/slides/slide13.xml" Id="Rb978b785b52b42e5" /><Relationship Type="http://schemas.openxmlformats.org/officeDocument/2006/relationships/slide" Target="/ppt/slides/slide14.xml" Id="R504464a283464f29" /><Relationship Type="http://schemas.openxmlformats.org/officeDocument/2006/relationships/slide" Target="/ppt/slides/slide15.xml" Id="R2e91cc974f2742c4" /><Relationship Type="http://schemas.openxmlformats.org/officeDocument/2006/relationships/slide" Target="/ppt/slides/slide16.xml" Id="Ra4542439ca0d4423" /><Relationship Type="http://schemas.openxmlformats.org/officeDocument/2006/relationships/slide" Target="/ppt/slides/slide17.xml" Id="R4e09f314da454863" /><Relationship Type="http://schemas.openxmlformats.org/officeDocument/2006/relationships/slide" Target="/ppt/slides/slide18.xml" Id="R0d6529c0d2a54f67" /><Relationship Type="http://schemas.openxmlformats.org/officeDocument/2006/relationships/slide" Target="/ppt/slides/slide19.xml" Id="R756155f29da54eb7" /><Relationship Type="http://schemas.openxmlformats.org/officeDocument/2006/relationships/slide" Target="/ppt/slides/slide20.xml" Id="R99e46dec102840f4" /><Relationship Type="http://schemas.openxmlformats.org/officeDocument/2006/relationships/slide" Target="/ppt/slides/slide21.xml" Id="R52010196b3a44970" /><Relationship Type="http://schemas.openxmlformats.org/officeDocument/2006/relationships/slide" Target="/ppt/slides/slide22.xml" Id="R6c51ca772133461a" /><Relationship Type="http://schemas.openxmlformats.org/officeDocument/2006/relationships/slide" Target="/ppt/slides/slide23.xml" Id="Rc6a40a8939224b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276a869c084d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dd3662452d4b78" /><Relationship Type="http://schemas.openxmlformats.org/officeDocument/2006/relationships/notesMaster" Target="/ppt/notesMasters/notesMaster1.xml" Id="Rb322a739969a43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7d7928c92f43af" /><Relationship Type="http://schemas.openxmlformats.org/officeDocument/2006/relationships/notesMaster" Target="/ppt/notesMasters/notesMaster1.xml" Id="Rf4237c428d8745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5d126817db468c" /><Relationship Type="http://schemas.openxmlformats.org/officeDocument/2006/relationships/notesMaster" Target="/ppt/notesMasters/notesMaster1.xml" Id="R147ad981d25c43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c897ed3d394631" /><Relationship Type="http://schemas.openxmlformats.org/officeDocument/2006/relationships/notesMaster" Target="/ppt/notesMasters/notesMaster1.xml" Id="R88b53960902042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9ce0ad511b4d6c" /><Relationship Type="http://schemas.openxmlformats.org/officeDocument/2006/relationships/notesMaster" Target="/ppt/notesMasters/notesMaster1.xml" Id="Rd270b275668f4a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bc9b9123f2494c" /><Relationship Type="http://schemas.openxmlformats.org/officeDocument/2006/relationships/notesMaster" Target="/ppt/notesMasters/notesMaster1.xml" Id="R353a6e7914814a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2a339a628b4244" /><Relationship Type="http://schemas.openxmlformats.org/officeDocument/2006/relationships/notesMaster" Target="/ppt/notesMasters/notesMaster1.xml" Id="R7ea4c891d0ea48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4990a019ae4fa0" /><Relationship Type="http://schemas.openxmlformats.org/officeDocument/2006/relationships/notesMaster" Target="/ppt/notesMasters/notesMaster1.xml" Id="R65b70e10e66f42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83330d40444c67" /><Relationship Type="http://schemas.openxmlformats.org/officeDocument/2006/relationships/notesMaster" Target="/ppt/notesMasters/notesMaster1.xml" Id="R2c5c80e0944b48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7c437188bb4625" /><Relationship Type="http://schemas.openxmlformats.org/officeDocument/2006/relationships/notesMaster" Target="/ppt/notesMasters/notesMaster1.xml" Id="Rb3762abe0b4e4c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9e11310fde4fd3" /><Relationship Type="http://schemas.openxmlformats.org/officeDocument/2006/relationships/notesMaster" Target="/ppt/notesMasters/notesMaster1.xml" Id="R260a51e4af244e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783ccef3a84adf" /><Relationship Type="http://schemas.openxmlformats.org/officeDocument/2006/relationships/notesMaster" Target="/ppt/notesMasters/notesMaster1.xml" Id="Rb3031b04598440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894e60630c45e6" /><Relationship Type="http://schemas.openxmlformats.org/officeDocument/2006/relationships/notesMaster" Target="/ppt/notesMasters/notesMaster1.xml" Id="R705b90345e8344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4fb8b5c3c64840" /><Relationship Type="http://schemas.openxmlformats.org/officeDocument/2006/relationships/notesMaster" Target="/ppt/notesMasters/notesMaster1.xml" Id="R43e78dcc447d49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f4f9411716470a" /><Relationship Type="http://schemas.openxmlformats.org/officeDocument/2006/relationships/notesMaster" Target="/ppt/notesMasters/notesMaster1.xml" Id="Re6e28e878ad445f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cdfe799d2b4607" /><Relationship Type="http://schemas.openxmlformats.org/officeDocument/2006/relationships/notesMaster" Target="/ppt/notesMasters/notesMaster1.xml" Id="R898769ee6290460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c6403f8a50d4ae8" /><Relationship Type="http://schemas.openxmlformats.org/officeDocument/2006/relationships/notesMaster" Target="/ppt/notesMasters/notesMaster1.xml" Id="R8373a1d5fbb9420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6c3fe250b0f4c97" /><Relationship Type="http://schemas.openxmlformats.org/officeDocument/2006/relationships/notesMaster" Target="/ppt/notesMasters/notesMaster1.xml" Id="R77aa8aba2ed84a2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c0121d3f4204adb" /><Relationship Type="http://schemas.openxmlformats.org/officeDocument/2006/relationships/notesMaster" Target="/ppt/notesMasters/notesMaster1.xml" Id="Rf218a82b89bb410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0b18daa2f95408a" /><Relationship Type="http://schemas.openxmlformats.org/officeDocument/2006/relationships/notesMaster" Target="/ppt/notesMasters/notesMaster1.xml" Id="R106b77cf19974ce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d27535250934aa7" /><Relationship Type="http://schemas.openxmlformats.org/officeDocument/2006/relationships/notesMaster" Target="/ppt/notesMasters/notesMaster1.xml" Id="R3bca4afa43e4490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7bddb8d1eca46f8" /><Relationship Type="http://schemas.openxmlformats.org/officeDocument/2006/relationships/notesMaster" Target="/ppt/notesMasters/notesMaster1.xml" Id="R7dc8aa36b96e4e5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fe8fd3612af41c4" /><Relationship Type="http://schemas.openxmlformats.org/officeDocument/2006/relationships/notesMaster" Target="/ppt/notesMasters/notesMaster1.xml" Id="Rb47792381a0040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Level 400 premise: the browser is not a second renderer. It is an execution lane beneath the same retained compositor. Source: README.md Browser implementation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left-to-right. Application, controls, scene compilation, text, vector, and compute are shared. IWebGpuApi is the typed seam. Desktop selects SilkWebGpuApi; browser selects BrowserWebGpuApi. Source: README.md; IWebGpuApi.cs; BrowserWebGpuApi.cs; progpu-browser.js.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boundary is deliberately asymmetric: browser-specific code is narrow, while renderer code remains shared. Source: README.md project table and Browser WebGPU sample; ProGPU.Samples.Browser.csproj.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BrowserGpuRuntime.InitializeAsync is the one JSON startup seam because initialization is infrequent and capability-shaped. Frame rendering does not use JSON. Source: Program.cs; BrowserGpuRuntime.cs; progpu-browser.js initialize/initializeGpu; WgpuContext.InitializeExternal.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critical point is Window.RenderExternalFrame delegates to the same RenderFrameCore used by desktop. Physical framebuffer dimensions remain separate from logical layout dimensions. Source: BrowserWindowHost.cs; Window.cs.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interface covers creation, render and compute passes, copies, writes, submission, mapping, surface acquisition, and destruction. This keeps higher layers backend-neutral without weakening type information. Source: IWebGpuApi.cs.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Magic is 0x55504750 and version is 1. Both C# and JavaScript validate length and command consumption. Alignment makes 64-bit fields safe and decoding predictable. Source: BrowserGpuProtocol.cs; progpu-browser.js dispatchPacket.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Resource creation can cause additional coarse packets, but steady rendering converges on one handoff per managed frame. WorkerRequest flushes queued frame packets before asynchronous requests. Source: BrowserWebGpuApi.Flush/QueueSubmit/BufferMapAsync; progpu-browser.js dispatch/flushWorkerPackets.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Generations prevent an old retained command from accidentally addressing a new GPUBuffer or GPUTexture that reused the same index. Source: BrowserGpuHandle and BrowserGpuHandlePool; BrowserWebGpuApi class comment; requireResource in progpu-browser.js.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COOP same-origin and COEP require-corp enable crossOriginIsolated. An explicit IsolatedWorker request downgrades to Worker when headers are absent and records the reason. Source: docs/browser.md; chooseExecutionMode; handleDispatcherWorkerMessage.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decoder avoids JSON, reflection, and a JS interop call per draw. Descriptor enums are converted through explicit lookup tables, and truncation fails before issuing a partial command. Source: progpu-browser.js dispatchPacket/execute.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why worker packets created by one managed frame are coalesced into one task: a current canvas texture cannot safely span unrelated worker work. SurfacePresent is intentionally a no-op in the browser backend. Source: BrowserWebGpuApi.SurfaceGetCurrentTexture/SurfacePresent; opcode 26; docs/browser.md.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Compiled reuse is not “skip rendering.” It is “reuse compiled CPU/GPU-facing batch data.” Dynamic diagnostics, mutable drawing visuals, masks, effects, and stale layers deliberately force misses. PathAtlas recoverable exhaustion resets once and retries the same frame. Source: Visual.cs; Compositor.cs.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predicate is intentionally conservative because performance and pixel correctness are one contract. Source: Compositor.CanReuseCompiledScene and CaptureCompiledScene.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There is no GLSL/HLSL translation step and no browser fork of Text.wgsl, Vector.wgsl, GlyphRasterizer.wgsl, or PathRasterizer.wgsl. Optional feature gaps downgrade the requested GPU profile rather than rewriting shader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retained-GPU answer to high-quality DXF zoom and crisp text: reuse glyph/path geometry and atlas residency, while changing placement transforms. Browser transport preserves those resources; it does not force raster snapshots. Source: AGENTS.md rendering contract; PathAtlas.cs; GlyphRasterizer.wgsl; PathRasterizer.wgsl.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coarse seam is intentionally separate from the packet protocol because WebGPU mapping is asynchronous and returns CPU-visible storage. Source: BrowserWebGpuApi mapping methods; progpu-browser.js mapBuffer/copyMappedBuffer/writeMappedBuffer.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High-frequency DOM events never call managed code directly. Popups, flyouts, tooltips, and dialogs remain compositor layers in the one top-level canvas window. Source: BrowserInputDispatcher.cs; BrowserWindowHost.cs; progpu-browser.js input helpers.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browser cannot repair device-owned objects in place after device loss. Reloading from retained application state gives every GPU resource a coherent new device identity. Source: initializeGpu device.lost handler; handleWorkerMessage.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Hot Reload preserves retained work by invalidating only affected roots and reserving recursive theme re-evaluation for theme/resource edits. Release AOT is trim-safe because the reflection fallback is gated off. Source: README.md Hot Reload architecture; ProGPU.Samples.Browser.csproj.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AOT is a publish-time mode: dotnet publish, not dotnet run. Verify logs for AOTing and native linking. The browser still starts Program.Main, initializes BrowserGpuRuntime, and uses the same navigator.gpu decoder. Source: README.md AOT mode; docs/browser.md; project 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DXF, retained entity and text geometry must survive zoom; only transform data should change. Measure steady-state compilation, upload, packet bytes, atlas churn, and frame time separately. Source: AGENTS.md Rendering Performance Regression Contract; Compositor cache predicate; PathAtlas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principle: keep application and renderer semantics shared; make platform differences explicit in startup, transport, and host services. The implementation is reviewable end to end from typed descriptor to JavaScript WebGPU call.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ea1f8e05ad4f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71182a3f7747ba" /><Relationship Type="http://schemas.openxmlformats.org/officeDocument/2006/relationships/slideLayout" Target="/ppt/slideLayouts/slideLayout1.xml" Id="Rae046608979b40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046608979b40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7ef16e70041d8" /><Relationship Type="http://schemas.openxmlformats.org/officeDocument/2006/relationships/notesSlide" Target="/ppt/notesSlides/notesSlide1.xml" Id="R98a4e10334c14d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27cda8c8e4faf" /><Relationship Type="http://schemas.openxmlformats.org/officeDocument/2006/relationships/image" Target="/ppt/media/image.png" Id="R38136cdaaa784e62" /><Relationship Type="http://schemas.openxmlformats.org/officeDocument/2006/relationships/notesSlide" Target="/ppt/notesSlides/notesSlide2.xml" Id="R9696fecf4e8a4f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2121139f1413b" /><Relationship Type="http://schemas.openxmlformats.org/officeDocument/2006/relationships/notesSlide" Target="/ppt/notesSlides/notesSlide3.xml" Id="Rc4fb0018c79848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b438157ff43a7" /><Relationship Type="http://schemas.openxmlformats.org/officeDocument/2006/relationships/notesSlide" Target="/ppt/notesSlides/notesSlide4.xml" Id="Rd13f1d0d6e3c4d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bf39437624dae" /><Relationship Type="http://schemas.openxmlformats.org/officeDocument/2006/relationships/notesSlide" Target="/ppt/notesSlides/notesSlide5.xml" Id="R8a35bc2c9c6a4d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ee3a05c7f40ae" /><Relationship Type="http://schemas.openxmlformats.org/officeDocument/2006/relationships/notesSlide" Target="/ppt/notesSlides/notesSlide6.xml" Id="Rf0acee44da9d49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5ac23d56040f1" /><Relationship Type="http://schemas.openxmlformats.org/officeDocument/2006/relationships/notesSlide" Target="/ppt/notesSlides/notesSlide7.xml" Id="R7aadc21377204e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958018f744bd9" /><Relationship Type="http://schemas.openxmlformats.org/officeDocument/2006/relationships/notesSlide" Target="/ppt/notesSlides/notesSlide8.xml" Id="Rfbeb232412e940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98257b8e34383" /><Relationship Type="http://schemas.openxmlformats.org/officeDocument/2006/relationships/notesSlide" Target="/ppt/notesSlides/notesSlide9.xml" Id="R12c27c1ced7c44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2c488d48c41da" /><Relationship Type="http://schemas.openxmlformats.org/officeDocument/2006/relationships/image" Target="/ppt/media/image2.png" Id="R878ff3e513814bfe" /><Relationship Type="http://schemas.openxmlformats.org/officeDocument/2006/relationships/notesSlide" Target="/ppt/notesSlides/notesSlide10.xml" Id="R9807258aa66545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3214a8c104804" /><Relationship Type="http://schemas.openxmlformats.org/officeDocument/2006/relationships/notesSlide" Target="/ppt/notesSlides/notesSlide11.xml" Id="R94536994b0da43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e913dea714ba3" /><Relationship Type="http://schemas.openxmlformats.org/officeDocument/2006/relationships/notesSlide" Target="/ppt/notesSlides/notesSlide12.xml" Id="R528393adcee94a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8e51aab7d48ec" /><Relationship Type="http://schemas.openxmlformats.org/officeDocument/2006/relationships/image" Target="/ppt/media/image3.png" Id="Rc1a314f2748c4b8d" /><Relationship Type="http://schemas.openxmlformats.org/officeDocument/2006/relationships/notesSlide" Target="/ppt/notesSlides/notesSlide13.xml" Id="Ra7b856e17db347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f8e7ca7434c16" /><Relationship Type="http://schemas.openxmlformats.org/officeDocument/2006/relationships/notesSlide" Target="/ppt/notesSlides/notesSlide14.xml" Id="R095481bd05dd42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078e6a8bd49a7" /><Relationship Type="http://schemas.openxmlformats.org/officeDocument/2006/relationships/notesSlide" Target="/ppt/notesSlides/notesSlide15.xml" Id="R7342a3aef517435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dff9632ea428e" /><Relationship Type="http://schemas.openxmlformats.org/officeDocument/2006/relationships/notesSlide" Target="/ppt/notesSlides/notesSlide16.xml" Id="R6cc614282d52402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82ead56d64fa0" /><Relationship Type="http://schemas.openxmlformats.org/officeDocument/2006/relationships/notesSlide" Target="/ppt/notesSlides/notesSlide17.xml" Id="R0f505c88a6ff4d5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298110a554fa1" /><Relationship Type="http://schemas.openxmlformats.org/officeDocument/2006/relationships/notesSlide" Target="/ppt/notesSlides/notesSlide18.xml" Id="R452b55221b8c430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be079b01c4e38" /><Relationship Type="http://schemas.openxmlformats.org/officeDocument/2006/relationships/notesSlide" Target="/ppt/notesSlides/notesSlide19.xml" Id="Red7aff9ea0b4468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873843a8047eb" /><Relationship Type="http://schemas.openxmlformats.org/officeDocument/2006/relationships/notesSlide" Target="/ppt/notesSlides/notesSlide20.xml" Id="R72c245ddc216436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6b5db23694fbc" /><Relationship Type="http://schemas.openxmlformats.org/officeDocument/2006/relationships/image" Target="/ppt/media/image4.png" Id="R098db7df52b14c08" /><Relationship Type="http://schemas.openxmlformats.org/officeDocument/2006/relationships/notesSlide" Target="/ppt/notesSlides/notesSlide21.xml" Id="Re9dd8ae3ebe04b8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c3349203b498b" /><Relationship Type="http://schemas.openxmlformats.org/officeDocument/2006/relationships/notesSlide" Target="/ppt/notesSlides/notesSlide22.xml" Id="R618acefb9e284da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e38c1773a4abc" /><Relationship Type="http://schemas.openxmlformats.org/officeDocument/2006/relationships/notesSlide" Target="/ppt/notesSlides/notesSlide23.xml" Id="R108d69aa156844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26CFE3E-7C6B-4347-B878-AE747B63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6675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PROGPU / BROWSER WEBGPU · LEVEL 400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F69EC77-0A62-403B-96F9-A7326C3C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57350"/>
            <a:ext cx="1028700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ProGPU browser rendering</a:t>
            </a:r>
          </a:p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from C# to navigator.gpu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BED9B8F-7856-4A48-AEED-D57C8DF1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05375"/>
            <a:ext cx="8763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Architecture, binary transport, retained GPU state, worker ordering, async readback, Hot Reload, and Release AOT.</a:t>
            </a:r>
          </a:p>
        </p:txBody>
      </p:sp>
    </p:spTree>
    <p:extLst>
      <p:ext uri="{BB962C8B-B14F-4D97-AF65-F5344CB8AC3E}">
        <p14:creationId xmlns:p14="http://schemas.microsoft.com/office/powerpoint/2010/main" val="966512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">
            <a:extLst xmlns:a="http://schemas.openxmlformats.org/drawingml/2006/main">
              <a:ext uri="{FF2B5EF4-FFF2-40B4-BE49-F238E27FC236}">
                <a16:creationId xmlns:a16="http://schemas.microsoft.com/office/drawing/2014/main" id="{86984A93-4D10-4DA1-A9D8-9D010037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renderer; only the host and transport are browser-specific</a:t>
            </a:r>
          </a:p>
        </p:txBody>
      </p:sp>
      <p:sp>
        <p:nvSpPr>
          <p:cNvPr id="2" name="live-copy">
            <a:extLst xmlns:a="http://schemas.openxmlformats.org/drawingml/2006/main">
              <a:ext uri="{FF2B5EF4-FFF2-40B4-BE49-F238E27FC236}">
                <a16:creationId xmlns:a16="http://schemas.microsoft.com/office/drawing/2014/main" id="{B40876F0-F88C-4C20-92C1-EA155F5B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85950"/>
            <a:ext cx="4905375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end-to-end boundary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Shared ProGPU.Samples and ProGPU.Scene execute inside .NET WebAssembly. BrowserWebGpuApi serializes the same typed WebGPU calls used by SilkWebGpuApi.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progpu-browser.js decodes them into navigator.gpu; embedded WGSL crosses unchanged.</a:t>
            </a:r>
          </a:p>
        </p:txBody>
      </p:sp>
      <p:sp>
        <p:nvSpPr>
          <p:cNvPr id="3" name="live-image-backing">
            <a:extLst xmlns:a="http://schemas.openxmlformats.org/drawingml/2006/main">
              <a:ext uri="{FF2B5EF4-FFF2-40B4-BE49-F238E27FC236}">
                <a16:creationId xmlns:a16="http://schemas.microsoft.com/office/drawing/2014/main" id="{8582252C-126C-4DEA-9D34-D491BF36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6115050" cy="3438525"/>
          </a:xfrm>
          <a:prstGeom xmlns:a="http://schemas.openxmlformats.org/drawingml/2006/main" prst="roundRect">
            <a:avLst>
              <a:gd name="adj" fmla="val 2216"/>
            </a:avLst>
          </a:prstGeom>
          <a:solidFill xmlns:a="http://schemas.openxmlformats.org/drawingml/2006/main">
            <a:srgbClr val="0C0C1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live-caption-band">
            <a:extLst xmlns:a="http://schemas.openxmlformats.org/drawingml/2006/main">
              <a:ext uri="{FF2B5EF4-FFF2-40B4-BE49-F238E27FC236}">
                <a16:creationId xmlns:a16="http://schemas.microsoft.com/office/drawing/2014/main" id="{50C0FE48-C5A4-44EC-8F85-D3D4CE95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91125"/>
            <a:ext cx="6115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ive-caption">
            <a:extLst xmlns:a="http://schemas.openxmlformats.org/drawingml/2006/main">
              <a:ext uri="{FF2B5EF4-FFF2-40B4-BE49-F238E27FC236}">
                <a16:creationId xmlns:a16="http://schemas.microsoft.com/office/drawing/2014/main" id="{7C3EBDDF-E5A5-47D5-ABC1-13A5D318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410200"/>
            <a:ext cx="561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C# RETAINED SCENE  →  BINARY PACKET  →  NAVIGATOR.GPU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7433747C-2553-4343-A7A7-653EA2BC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36cdaaa784e62"/>
          <a:stretch xmlns:a="http://schemas.openxmlformats.org/drawingml/2006/main"/>
        </p:blipFill>
        <p:spPr>
          <a:xfrm xmlns:a="http://schemas.openxmlformats.org/drawingml/2006/main">
            <a:off x="5677958" y="1592491"/>
            <a:ext cx="6112933" cy="3377743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07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4">
            <a:extLst xmlns:a="http://schemas.openxmlformats.org/drawingml/2006/main">
              <a:ext uri="{FF2B5EF4-FFF2-40B4-BE49-F238E27FC236}">
                <a16:creationId xmlns:a16="http://schemas.microsoft.com/office/drawing/2014/main" id="{A5FBB64F-188D-4068-82D5-C0DFDBC9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solution split keeps browser code at the platform edge</a:t>
            </a:r>
          </a:p>
        </p:txBody>
      </p:sp>
      <p:sp>
        <p:nvSpPr>
          <p:cNvPr id="2" name="retained-1">
            <a:extLst xmlns:a="http://schemas.openxmlformats.org/drawingml/2006/main">
              <a:ext uri="{FF2B5EF4-FFF2-40B4-BE49-F238E27FC236}">
                <a16:creationId xmlns:a16="http://schemas.microsoft.com/office/drawing/2014/main" id="{92CD907F-B7D7-4F78-B535-07E033D8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 ProGPU.Samples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Shared application, windows, pages, retained visuals, controls, and every shader-using sample.</a:t>
            </a:r>
          </a:p>
        </p:txBody>
      </p:sp>
      <p:sp>
        <p:nvSpPr>
          <p:cNvPr id="3" name="retained-2">
            <a:extLst xmlns:a="http://schemas.openxmlformats.org/drawingml/2006/main">
              <a:ext uri="{FF2B5EF4-FFF2-40B4-BE49-F238E27FC236}">
                <a16:creationId xmlns:a16="http://schemas.microsoft.com/office/drawing/2014/main" id="{D7835C8D-BD29-4354-A3A2-8B7949BA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52625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 ProGPU.Backend / Scene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IWebGpuApi, WgpuContext, compositor, atlases, resources, render and compute pipelines.</a:t>
            </a:r>
          </a:p>
        </p:txBody>
      </p:sp>
      <p:sp>
        <p:nvSpPr>
          <p:cNvPr id="4" name="retained-3">
            <a:extLst xmlns:a="http://schemas.openxmlformats.org/drawingml/2006/main">
              <a:ext uri="{FF2B5EF4-FFF2-40B4-BE49-F238E27FC236}">
                <a16:creationId xmlns:a16="http://schemas.microsoft.com/office/drawing/2014/main" id="{5797D21C-0452-4285-8B14-49FCA5D7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0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 ProGPU.Browser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Capability runtime, binary protocol, browser WebGPU API, host, input, storage, and fallback font.</a:t>
            </a:r>
          </a:p>
        </p:txBody>
      </p:sp>
      <p:sp>
        <p:nvSpPr>
          <p:cNvPr id="5" name="retained-4">
            <a:extLst xmlns:a="http://schemas.openxmlformats.org/drawingml/2006/main">
              <a:ext uri="{FF2B5EF4-FFF2-40B4-BE49-F238E27FC236}">
                <a16:creationId xmlns:a16="http://schemas.microsoft.com/office/drawing/2014/main" id="{0E28302A-D126-4EB1-999D-C9AE73EB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00500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 ProGPU.Samples.Browser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Thin browser-wasm entry point plus canvas, JavaScript module, CSS, diagnostics, and deployment assets.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4CA81C0A-7133-4980-A090-910A6CDE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292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Startup establishes one external WgpuContext</a:t>
            </a:r>
          </a:p>
        </p:txBody>
      </p:sp>
      <p:cxnSp>
        <p:nvCxnSpPr>
          <p:cNvPr id="21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Bootstrap .NET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progpu-browser.js creates the .NET runtime, registers JS module imports, then runs Program.Main in browser-wasm.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Negotiate capabilities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 canvas; install input; choose transport; request adapter/device; select profile and canvas format.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Install the shared app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InitializeExternal installs opaque device/queue/surface tokens. BrowserWindowHost runs the shared app through AppBuilder.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DOTNET.JS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CAPABILITIES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APPBUILDER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animation frame reuses the desktop RenderFrameCore path</a:t>
            </a:r>
          </a:p>
        </p:txBody>
      </p:sp>
      <p:cxnSp>
        <p:nvCxnSpPr>
          <p:cNvPr id="21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Browser host tick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requestAnimationFrame supplies time. Drain DOM input, read physical canvas pixels and devicePixelRatio.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Ordinary WinUI frame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UIThread work, callbacks, animations, measure/arrange, and framebuffer/DPI reconfiguration.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Acquire and render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Get current surface texture, create its view, call Compositor.RenderScene, submit, present, and release tokens.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HOST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WINDOW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GPU FRAME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IWebGpuApi is the only renderer-facing platform seam</a:t>
            </a:r>
          </a:p>
        </p:txBody>
      </p:sp>
      <p:cxnSp>
        <p:nvCxnSpPr>
          <p:cNvPr id="21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Typed call sites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Renderer code passes Silk.NET WebGPU descriptors and opaque pointer-shaped handles through IWebGpuApi.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Desktop implementation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SilkWebGpuApi is a zero-policy forwarding layer into wgpu-native; no command serialization is needed.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Browser implementation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BrowserWebGpuApi reads the same descriptors and writes versioned resource, pass, upload, copy, and lifetime opcodes.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CALLER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SILK / NATIVE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BROWSER / WASM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packet is a compact, self-validating little-endian stream</a:t>
            </a:r>
          </a:p>
        </p:txBody>
      </p:sp>
      <p:cxnSp>
        <p:nvCxnSpPr>
          <p:cNvPr id="21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Packet header — 16 B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PGPU magic u32, protocol version u16, flags u16, byte length u32, command count u32.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Command header — 8 B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Opcode u16, flags u16, command length u32. Each record advances to the next 8-byte boundary.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Typed payload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Fixed-width descriptor fields, handle values, variable arrays, UTF-8 WGSL, and upload bytes are inlined.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OFFSET 0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EACH OPCODE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PAYLOAD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Flush points preserve ordering without per-draw JavaScript interop</a:t>
            </a:r>
          </a:p>
        </p:txBody>
      </p:sp>
      <p:cxnSp>
        <p:nvCxnSpPr>
          <p:cNvPr id="21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Record in reusable memory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BrowserGpuCommandEncoder owns a NativeMemory arena, starts at 256 KiB, grows, seals, dispatches, then resets.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Cross coarse seams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QueueSubmit flushes the packet. mapAsync also flushes first so all prior writes and copies are visible.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Preserve frame order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worker transport copies packet bytes, microtask-coalesces them, and posts one ordered dispatch-batch task.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ARENA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FLUSH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WORKER ORDER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4">
            <a:extLst xmlns:a="http://schemas.openxmlformats.org/drawingml/2006/main">
              <a:ext uri="{FF2B5EF4-FFF2-40B4-BE49-F238E27FC236}">
                <a16:creationId xmlns:a16="http://schemas.microsoft.com/office/drawing/2014/main" id="{A5FBB64F-188D-4068-82D5-C0DFDBC9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Opaque handles preserve resource identity across the boundary</a:t>
            </a:r>
          </a:p>
        </p:txBody>
      </p:sp>
      <p:sp>
        <p:nvSpPr>
          <p:cNvPr id="2" name="retained-1">
            <a:extLst xmlns:a="http://schemas.openxmlformats.org/drawingml/2006/main">
              <a:ext uri="{FF2B5EF4-FFF2-40B4-BE49-F238E27FC236}">
                <a16:creationId xmlns:a16="http://schemas.microsoft.com/office/drawing/2014/main" id="{92CD907F-B7D7-4F78-B535-07E033D8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 32-bit token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Bits 0–19 are the table index; bits 20–31 are a 12-bit generation. Zero remains null.</a:t>
            </a:r>
          </a:p>
        </p:txBody>
      </p:sp>
      <p:sp>
        <p:nvSpPr>
          <p:cNvPr id="3" name="retained-2">
            <a:extLst xmlns:a="http://schemas.openxmlformats.org/drawingml/2006/main">
              <a:ext uri="{FF2B5EF4-FFF2-40B4-BE49-F238E27FC236}">
                <a16:creationId xmlns:a16="http://schemas.microsoft.com/office/drawing/2014/main" id="{D7835C8D-BD29-4354-A3A2-8B7949BA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52625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 Managed pool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Allocation increments generation; release validates the current generation before returning an index to the free stack.</a:t>
            </a:r>
          </a:p>
        </p:txBody>
      </p:sp>
      <p:sp>
        <p:nvSpPr>
          <p:cNvPr id="4" name="retained-3">
            <a:extLst xmlns:a="http://schemas.openxmlformats.org/drawingml/2006/main">
              <a:ext uri="{FF2B5EF4-FFF2-40B4-BE49-F238E27FC236}">
                <a16:creationId xmlns:a16="http://schemas.microsoft.com/office/drawing/2014/main" id="{5797D21C-0452-4285-8B14-49FCA5D7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0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 Pointer-shaped ABI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Silk pointer values carry tokens only. Browser code never dereferences them; C# converts token ↔ pointer.</a:t>
            </a:r>
          </a:p>
        </p:txBody>
      </p:sp>
      <p:sp>
        <p:nvSpPr>
          <p:cNvPr id="5" name="retained-4">
            <a:extLst xmlns:a="http://schemas.openxmlformats.org/drawingml/2006/main">
              <a:ext uri="{FF2B5EF4-FFF2-40B4-BE49-F238E27FC236}">
                <a16:creationId xmlns:a16="http://schemas.microsoft.com/office/drawing/2014/main" id="{0E28302A-D126-4EB1-999D-C9AE73EB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00500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 JavaScript table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resources is keyed by the complete token. requireResource rejects stale or unknown handles before WebGPU execution.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4CA81C0A-7133-4980-A090-910A6CDE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2925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">
            <a:extLst xmlns:a="http://schemas.openxmlformats.org/drawingml/2006/main">
              <a:ext uri="{FF2B5EF4-FFF2-40B4-BE49-F238E27FC236}">
                <a16:creationId xmlns:a16="http://schemas.microsoft.com/office/drawing/2014/main" id="{86984A93-4D10-4DA1-A9D8-9D010037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Transport selection is feature-based, not browser-branded</a:t>
            </a:r>
          </a:p>
        </p:txBody>
      </p:sp>
      <p:sp>
        <p:nvSpPr>
          <p:cNvPr id="2" name="live-copy">
            <a:extLst xmlns:a="http://schemas.openxmlformats.org/drawingml/2006/main">
              <a:ext uri="{FF2B5EF4-FFF2-40B4-BE49-F238E27FC236}">
                <a16:creationId xmlns:a16="http://schemas.microsoft.com/office/drawing/2014/main" id="{B40876F0-F88C-4C20-92C1-EA155F5B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85950"/>
            <a:ext cx="4905375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execution modes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Auto prefers an isolated OffscreenCanvas worker when cross-origin isolation and SharedArrayBuffer exist, then an ordinary worker, then main-thread decode.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All modes consume the same PGPU packet. Worker messages are serialized so surface texture and submission order cannot interleave.</a:t>
            </a:r>
          </a:p>
        </p:txBody>
      </p:sp>
      <p:sp>
        <p:nvSpPr>
          <p:cNvPr id="3" name="live-image-backing">
            <a:extLst xmlns:a="http://schemas.openxmlformats.org/drawingml/2006/main">
              <a:ext uri="{FF2B5EF4-FFF2-40B4-BE49-F238E27FC236}">
                <a16:creationId xmlns:a16="http://schemas.microsoft.com/office/drawing/2014/main" id="{8582252C-126C-4DEA-9D34-D491BF36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6115050" cy="3438525"/>
          </a:xfrm>
          <a:prstGeom xmlns:a="http://schemas.openxmlformats.org/drawingml/2006/main" prst="roundRect">
            <a:avLst>
              <a:gd name="adj" fmla="val 2216"/>
            </a:avLst>
          </a:prstGeom>
          <a:solidFill xmlns:a="http://schemas.openxmlformats.org/drawingml/2006/main">
            <a:srgbClr val="0C0C1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live-caption-band">
            <a:extLst xmlns:a="http://schemas.openxmlformats.org/drawingml/2006/main">
              <a:ext uri="{FF2B5EF4-FFF2-40B4-BE49-F238E27FC236}">
                <a16:creationId xmlns:a16="http://schemas.microsoft.com/office/drawing/2014/main" id="{50C0FE48-C5A4-44EC-8F85-D3D4CE95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91125"/>
            <a:ext cx="6115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ive-caption">
            <a:extLst xmlns:a="http://schemas.openxmlformats.org/drawingml/2006/main">
              <a:ext uri="{FF2B5EF4-FFF2-40B4-BE49-F238E27FC236}">
                <a16:creationId xmlns:a16="http://schemas.microsoft.com/office/drawing/2014/main" id="{7C3EBDDF-E5A5-47D5-ABC1-13A5D318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410200"/>
            <a:ext cx="561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PACKET FORMAT  ·  THREE EXECUTION MODES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7433747C-2553-4343-A7A7-653EA2BC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ff3e513814bfe"/>
          <a:stretch xmlns:a="http://schemas.openxmlformats.org/drawingml/2006/main"/>
        </p:blipFill>
        <p:spPr>
          <a:xfrm xmlns:a="http://schemas.openxmlformats.org/drawingml/2006/main">
            <a:off x="5677958" y="1582840"/>
            <a:ext cx="6112933" cy="3397044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07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JavaScript decodes PGPU into deterministic WebGPU calls</a:t>
            </a:r>
          </a:p>
        </p:txBody>
      </p:sp>
      <p:cxnSp>
        <p:nvCxnSpPr>
          <p:cNvPr id="21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Validate packet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 WASM bounds, magic, version, declared length, command count, and final byte consumption.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Decode records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opcode and length through DataView, execute payload fields with explicit little-endian reads, then align by 8.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Issue WebGPU calls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Resolve handles and call GPUDevice, command encoders, render/compute passes, GPUQueue, textures, and buffers.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DECODE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EXECUTE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frame batch owns one current surface texture lifetime</a:t>
            </a:r>
          </a:p>
        </p:txBody>
      </p:sp>
      <p:cxnSp>
        <p:nvCxnSpPr>
          <p:cNvPr id="21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Acquire token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SurfaceGetCurrentTexture allocates a handle and records CreateSurfaceTexture; Window creates a texture view from it.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Resolve current texture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Opcode 26 calls context.getCurrentTexture(). Render-pass attachments reference the resulting texture view handle.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Submit and retire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QueueSubmit flushes. Browser presentation is implicit; deferred view/texture releases join the next ordered packet.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ACQUIRE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ENCODE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SUBMIT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">
            <a:extLst xmlns:a="http://schemas.openxmlformats.org/drawingml/2006/main">
              <a:ext uri="{FF2B5EF4-FFF2-40B4-BE49-F238E27FC236}">
                <a16:creationId xmlns:a16="http://schemas.microsoft.com/office/drawing/2014/main" id="{86984A93-4D10-4DA1-A9D8-9D010037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Retained rendering determines whether the CPU recompiles a scene</a:t>
            </a:r>
          </a:p>
        </p:txBody>
      </p:sp>
      <p:sp>
        <p:nvSpPr>
          <p:cNvPr id="2" name="live-copy">
            <a:extLst xmlns:a="http://schemas.openxmlformats.org/drawingml/2006/main">
              <a:ext uri="{FF2B5EF4-FFF2-40B4-BE49-F238E27FC236}">
                <a16:creationId xmlns:a16="http://schemas.microsoft.com/office/drawing/2014/main" id="{B40876F0-F88C-4C20-92C1-EA155F5B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85950"/>
            <a:ext cx="4905375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ChangeVersion is the contract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Pixel-affecting mutations invalidate the visual and propagate a monotonically changing version to the root. RenderSceneCore snapshots target and atlas state.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A cache hit skips scene compilation and uploads but still executes the current render pass and present path.</a:t>
            </a:r>
          </a:p>
        </p:txBody>
      </p:sp>
      <p:sp>
        <p:nvSpPr>
          <p:cNvPr id="3" name="live-image-backing">
            <a:extLst xmlns:a="http://schemas.openxmlformats.org/drawingml/2006/main">
              <a:ext uri="{FF2B5EF4-FFF2-40B4-BE49-F238E27FC236}">
                <a16:creationId xmlns:a16="http://schemas.microsoft.com/office/drawing/2014/main" id="{8582252C-126C-4DEA-9D34-D491BF36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6115050" cy="3438525"/>
          </a:xfrm>
          <a:prstGeom xmlns:a="http://schemas.openxmlformats.org/drawingml/2006/main" prst="roundRect">
            <a:avLst>
              <a:gd name="adj" fmla="val 2216"/>
            </a:avLst>
          </a:prstGeom>
          <a:solidFill xmlns:a="http://schemas.openxmlformats.org/drawingml/2006/main">
            <a:srgbClr val="0C0C1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live-caption-band">
            <a:extLst xmlns:a="http://schemas.openxmlformats.org/drawingml/2006/main">
              <a:ext uri="{FF2B5EF4-FFF2-40B4-BE49-F238E27FC236}">
                <a16:creationId xmlns:a16="http://schemas.microsoft.com/office/drawing/2014/main" id="{50C0FE48-C5A4-44EC-8F85-D3D4CE95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91125"/>
            <a:ext cx="6115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ive-caption">
            <a:extLst xmlns:a="http://schemas.openxmlformats.org/drawingml/2006/main">
              <a:ext uri="{FF2B5EF4-FFF2-40B4-BE49-F238E27FC236}">
                <a16:creationId xmlns:a16="http://schemas.microsoft.com/office/drawing/2014/main" id="{7C3EBDDF-E5A5-47D5-ABC1-13A5D318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410200"/>
            <a:ext cx="561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INVALIDATION  →  CACHE PREDICATE  →  REPLAY OR RECOMPILE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7433747C-2553-4343-A7A7-653EA2BC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314f2748c4b8d"/>
          <a:stretch xmlns:a="http://schemas.openxmlformats.org/drawingml/2006/main"/>
        </p:blipFill>
        <p:spPr>
          <a:xfrm xmlns:a="http://schemas.openxmlformats.org/drawingml/2006/main">
            <a:off x="5677958" y="1592491"/>
            <a:ext cx="6112933" cy="3377743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07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4">
            <a:extLst xmlns:a="http://schemas.openxmlformats.org/drawingml/2006/main">
              <a:ext uri="{FF2B5EF4-FFF2-40B4-BE49-F238E27FC236}">
                <a16:creationId xmlns:a16="http://schemas.microsoft.com/office/drawing/2014/main" id="{A5FBB64F-188D-4068-82D5-C0DFDBC9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Compiled scene reuse is a strict pixel-validity predicate</a:t>
            </a:r>
          </a:p>
        </p:txBody>
      </p:sp>
      <p:sp>
        <p:nvSpPr>
          <p:cNvPr id="2" name="retained-1">
            <a:extLst xmlns:a="http://schemas.openxmlformats.org/drawingml/2006/main">
              <a:ext uri="{FF2B5EF4-FFF2-40B4-BE49-F238E27FC236}">
                <a16:creationId xmlns:a16="http://schemas.microsoft.com/office/drawing/2014/main" id="{92CD907F-B7D7-4F78-B535-07E033D8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 Visual state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Same root identity and root ChangeVersion; no dynamic diagnostics; retained content must have an immutable contract.</a:t>
            </a:r>
          </a:p>
        </p:txBody>
      </p:sp>
      <p:sp>
        <p:nvSpPr>
          <p:cNvPr id="3" name="retained-2">
            <a:extLst xmlns:a="http://schemas.openxmlformats.org/drawingml/2006/main">
              <a:ext uri="{FF2B5EF4-FFF2-40B4-BE49-F238E27FC236}">
                <a16:creationId xmlns:a16="http://schemas.microsoft.com/office/drawing/2014/main" id="{D7835C8D-BD29-4354-A3A2-8B7949BA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52625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 Target state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Same logical size, physical framebuffer, viewport, and DPI scale. Resize and display changes invalidate reuse.</a:t>
            </a:r>
          </a:p>
        </p:txBody>
      </p:sp>
      <p:sp>
        <p:nvSpPr>
          <p:cNvPr id="4" name="retained-3">
            <a:extLst xmlns:a="http://schemas.openxmlformats.org/drawingml/2006/main">
              <a:ext uri="{FF2B5EF4-FFF2-40B4-BE49-F238E27FC236}">
                <a16:creationId xmlns:a16="http://schemas.microsoft.com/office/drawing/2014/main" id="{5797D21C-0452-4285-8B14-49FCA5D7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0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 Atlas state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GlyphAtlas.Generation and PathAtlas.Generation must match the versions captured during compilation.</a:t>
            </a:r>
          </a:p>
        </p:txBody>
      </p:sp>
      <p:sp>
        <p:nvSpPr>
          <p:cNvPr id="5" name="retained-4">
            <a:extLst xmlns:a="http://schemas.openxmlformats.org/drawingml/2006/main">
              <a:ext uri="{FF2B5EF4-FFF2-40B4-BE49-F238E27FC236}">
                <a16:creationId xmlns:a16="http://schemas.microsoft.com/office/drawing/2014/main" id="{0E28302A-D126-4EB1-999D-C9AE73EB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00500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 Layer state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Tooltip and external layer identity/version plus every CacheAsLayer texture, ownership, visibility, and dirty flag must remain valid.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4CA81C0A-7133-4980-A090-910A6CDE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22925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4">
            <a:extLst xmlns:a="http://schemas.openxmlformats.org/drawingml/2006/main">
              <a:ext uri="{FF2B5EF4-FFF2-40B4-BE49-F238E27FC236}">
                <a16:creationId xmlns:a16="http://schemas.microsoft.com/office/drawing/2014/main" id="{A5FBB64F-188D-4068-82D5-C0DFDBC9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WGSL is shared source—not translated browser output</a:t>
            </a:r>
          </a:p>
        </p:txBody>
      </p:sp>
      <p:sp>
        <p:nvSpPr>
          <p:cNvPr id="2" name="retained-1">
            <a:extLst xmlns:a="http://schemas.openxmlformats.org/drawingml/2006/main">
              <a:ext uri="{FF2B5EF4-FFF2-40B4-BE49-F238E27FC236}">
                <a16:creationId xmlns:a16="http://schemas.microsoft.com/office/drawing/2014/main" id="{92CD907F-B7D7-4F78-B535-07E033D8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  Embedded modules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Production WGSL lives in each owning Shaders directory and is loaded once through ShaderResource.</a:t>
            </a:r>
          </a:p>
        </p:txBody>
      </p:sp>
      <p:sp>
        <p:nvSpPr>
          <p:cNvPr id="3" name="retained-2">
            <a:extLst xmlns:a="http://schemas.openxmlformats.org/drawingml/2006/main">
              <a:ext uri="{FF2B5EF4-FFF2-40B4-BE49-F238E27FC236}">
                <a16:creationId xmlns:a16="http://schemas.microsoft.com/office/drawing/2014/main" id="{D7835C8D-BD29-4354-A3A2-8B7949BA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52625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  Typed descriptor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compositor supplies ShaderModuleWGSLDescriptor through IWebGpuApi; the browser backend accepts WGSL only.</a:t>
            </a:r>
          </a:p>
        </p:txBody>
      </p:sp>
      <p:sp>
        <p:nvSpPr>
          <p:cNvPr id="4" name="retained-3">
            <a:extLst xmlns:a="http://schemas.openxmlformats.org/drawingml/2006/main">
              <a:ext uri="{FF2B5EF4-FFF2-40B4-BE49-F238E27FC236}">
                <a16:creationId xmlns:a16="http://schemas.microsoft.com/office/drawing/2014/main" id="{5797D21C-0452-4285-8B14-49FCA5D7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0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  Exact UTF-8 path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BrowserWebGpuApi encodes the source in opcode 14; JavaScript decodes and calls GPUDevice.createShaderModule({ code }).</a:t>
            </a:r>
          </a:p>
        </p:txBody>
      </p:sp>
      <p:sp>
        <p:nvSpPr>
          <p:cNvPr id="5" name="retained-4">
            <a:extLst xmlns:a="http://schemas.openxmlformats.org/drawingml/2006/main">
              <a:ext uri="{FF2B5EF4-FFF2-40B4-BE49-F238E27FC236}">
                <a16:creationId xmlns:a16="http://schemas.microsoft.com/office/drawing/2014/main" id="{0E28302A-D126-4EB1-999D-C9AE73EB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00500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  Stable pipelines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Shader modules, layouts, pipelines, bind groups, samplers, buffers, and textures keep generation-bearing identities across packets.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4CA81C0A-7133-4980-A090-910A6CDE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2925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4">
            <a:extLst xmlns:a="http://schemas.openxmlformats.org/drawingml/2006/main">
              <a:ext uri="{FF2B5EF4-FFF2-40B4-BE49-F238E27FC236}">
                <a16:creationId xmlns:a16="http://schemas.microsoft.com/office/drawing/2014/main" id="{A5FBB64F-188D-4068-82D5-C0DFDBC9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Retained path and glyph geometry survives the browser boundary</a:t>
            </a:r>
          </a:p>
        </p:txBody>
      </p:sp>
      <p:sp>
        <p:nvSpPr>
          <p:cNvPr id="2" name="retained-1">
            <a:extLst xmlns:a="http://schemas.openxmlformats.org/drawingml/2006/main">
              <a:ext uri="{FF2B5EF4-FFF2-40B4-BE49-F238E27FC236}">
                <a16:creationId xmlns:a16="http://schemas.microsoft.com/office/drawing/2014/main" id="{92CD907F-B7D7-4F78-B535-07E033D8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 Geometry identity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Path segments and font glyph outlines are compiled once into retained records keyed by geometry, style, scale, and bounded phase.</a:t>
            </a:r>
          </a:p>
        </p:txBody>
      </p:sp>
      <p:sp>
        <p:nvSpPr>
          <p:cNvPr id="3" name="retained-2">
            <a:extLst xmlns:a="http://schemas.openxmlformats.org/drawingml/2006/main">
              <a:ext uri="{FF2B5EF4-FFF2-40B4-BE49-F238E27FC236}">
                <a16:creationId xmlns:a16="http://schemas.microsoft.com/office/drawing/2014/main" id="{D7835C8D-BD29-4354-A3A2-8B7949BA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52625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 GPU coverage atlases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PathAtlas and GlyphAtlas keep coverage textures and GPU buffers alive; generations advance only when UV content actually moves.</a:t>
            </a:r>
          </a:p>
        </p:txBody>
      </p:sp>
      <p:sp>
        <p:nvSpPr>
          <p:cNvPr id="4" name="retained-3">
            <a:extLst xmlns:a="http://schemas.openxmlformats.org/drawingml/2006/main">
              <a:ext uri="{FF2B5EF4-FFF2-40B4-BE49-F238E27FC236}">
                <a16:creationId xmlns:a16="http://schemas.microsoft.com/office/drawing/2014/main" id="{5797D21C-0452-4285-8B14-49FCA5D7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0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 Quality invariants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Physical framebuffer pixels, DPI-aware glyph raster size, quarter-physical-pixel text snapping, and precise half-open winding stay intact.</a:t>
            </a:r>
          </a:p>
        </p:txBody>
      </p:sp>
      <p:sp>
        <p:nvSpPr>
          <p:cNvPr id="5" name="retained-4">
            <a:extLst xmlns:a="http://schemas.openxmlformats.org/drawingml/2006/main">
              <a:ext uri="{FF2B5EF4-FFF2-40B4-BE49-F238E27FC236}">
                <a16:creationId xmlns:a16="http://schemas.microsoft.com/office/drawing/2014/main" id="{0E28302A-D126-4EB1-999D-C9AE73EB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00500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 Cheap camera changes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Zoom and transforms update matrices, uniforms, or instances. They do not reparse DXF text, clone glyph paths, or lower analytic coverage.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4CA81C0A-7133-4980-A090-910A6CDE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22925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Mapped buffers cross a separate asynchronous seam</a:t>
            </a:r>
          </a:p>
        </p:txBody>
      </p:sp>
      <p:cxnSp>
        <p:nvCxnSpPr>
          <p:cNvPr id="21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Order prior GPU work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BufferMapAsync flushes pending commands before invoking the JavaScript mapBuffer import.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Await WebGPU mapping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Main thread awaits GPUBuffer.mapAsync. Worker mode sends a request and transfers a copied ArrayBuffer response.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Expose managed range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C# pins a managed byte array; reads copy into it. Writes copy back before unmap; callback/task completion remains asynchronous.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FLUSH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MAPASYNC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COPY BACK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DOM input is batched into the neutral WinUI input seam</a:t>
            </a:r>
          </a:p>
        </p:txBody>
      </p:sp>
      <p:cxnSp>
        <p:nvCxnSpPr>
          <p:cNvPr id="21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Queue DOM records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Listeners append fixed 32-byte events. Pointer moves replace the previous move; adjacent wheel deltas accumulate; queue caps at 4096.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Drain per frame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BrowserInputDispatcher stackallocs 256 records and drains at most four batches before injecting InputSystem events.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Install platform services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BrowserWindowHost wires cursor, focus/text, clipboard, storage/file pickers, canvas metrics, and an embedded Roboto fallback.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DOM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FRAME BATCH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HOST SERVICES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WebGPU device loss rebuilds device-owned state</a:t>
            </a:r>
          </a:p>
        </p:txBody>
      </p:sp>
      <p:cxnSp>
        <p:nvCxnSpPr>
          <p:cNvPr id="21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Detect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uncapturederror records the first validation failure. device.lost reports reason and message through diagnostics.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Signal the owner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dispatcher worker posts device-lost to the main page; main-thread mode schedules the same reload path.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Rebuild cleanly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Reload reinitializes adapter/device, handle tables, pipelines, buffers, textures, atlases, and the retained shared application.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WEBGPU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HOST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RECONSTRUCT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5">
            <a:extLst xmlns:a="http://schemas.openxmlformats.org/drawingml/2006/main">
              <a:ext uri="{FF2B5EF4-FFF2-40B4-BE49-F238E27FC236}">
                <a16:creationId xmlns:a16="http://schemas.microsoft.com/office/drawing/2014/main" id="{1AE7B18F-0204-47DF-8751-03D267ED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Debug Hot Reload and Release AOT converge on the same renderer</a:t>
            </a:r>
          </a:p>
        </p:txBody>
      </p:sp>
      <p:sp>
        <p:nvSpPr>
          <p:cNvPr id="2" name="debug-mode">
            <a:extLst xmlns:a="http://schemas.openxmlformats.org/drawingml/2006/main">
              <a:ext uri="{FF2B5EF4-FFF2-40B4-BE49-F238E27FC236}">
                <a16:creationId xmlns:a16="http://schemas.microsoft.com/office/drawing/2014/main" id="{4C1A0435-CEC7-4115-ACAE-9D47C4AE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514350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Debug / iterate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Managed WebAssembly interpreter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WasmEnableHotReload = true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dotnet watch delivers metadata / IL deltas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UIThread coalesces one Hot Reload generation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Active and cached UI reconcile selectively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Same packets, workers, resources, WGSL</a:t>
            </a:r>
          </a:p>
        </p:txBody>
      </p:sp>
      <p:sp>
        <p:nvSpPr>
          <p:cNvPr id="3" name="release-mode">
            <a:extLst xmlns:a="http://schemas.openxmlformats.org/drawingml/2006/main">
              <a:ext uri="{FF2B5EF4-FFF2-40B4-BE49-F238E27FC236}">
                <a16:creationId xmlns:a16="http://schemas.microsoft.com/office/drawing/2014/main" id="{449BCF37-B8E2-4BDA-8E80-48D2C1FF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52625"/>
            <a:ext cx="514350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 / ship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RunAOTCompilation = true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Trimming, SIMD, and native relinking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ProGPU assemblies compile to WebAssembly AOT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netDxf remains supported mixed interpretation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Metadata update handlers are inactive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Same packets, workers, resources, WGSL</a:t>
            </a:r>
          </a:p>
        </p:txBody>
      </p:sp>
      <p:sp>
        <p:nvSpPr>
          <p:cNvPr id="4" name="mode-accent-left">
            <a:extLst xmlns:a="http://schemas.openxmlformats.org/drawingml/2006/main">
              <a:ext uri="{FF2B5EF4-FFF2-40B4-BE49-F238E27FC236}">
                <a16:creationId xmlns:a16="http://schemas.microsoft.com/office/drawing/2014/main" id="{3289F1FE-5FAA-47F8-B21D-49548584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mode-accent-right">
            <a:extLst xmlns:a="http://schemas.openxmlformats.org/drawingml/2006/main">
              <a:ext uri="{FF2B5EF4-FFF2-40B4-BE49-F238E27FC236}">
                <a16:creationId xmlns:a16="http://schemas.microsoft.com/office/drawing/2014/main" id="{3C04500A-1A00-423E-B305-9F1EE73B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6954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mode-summary">
            <a:extLst xmlns:a="http://schemas.openxmlformats.org/drawingml/2006/main">
              <a:ext uri="{FF2B5EF4-FFF2-40B4-BE49-F238E27FC236}">
                <a16:creationId xmlns:a16="http://schemas.microsoft.com/office/drawing/2014/main" id="{F60522A4-6B47-40EB-BBC4-0CB9F91D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19750"/>
            <a:ext cx="952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Build mode changes managed execution and deployment—not renderer semantics.</a:t>
            </a:r>
          </a:p>
        </p:txBody>
      </p:sp>
      <p:sp>
        <p:nvSpPr>
          <p:cNvPr id="7" name="page-5">
            <a:extLst xmlns:a="http://schemas.openxmlformats.org/drawingml/2006/main">
              <a:ext uri="{FF2B5EF4-FFF2-40B4-BE49-F238E27FC236}">
                <a16:creationId xmlns:a16="http://schemas.microsoft.com/office/drawing/2014/main" id="{FFF729F6-AD3B-44C3-AE8C-B4EFCF3C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3707101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">
            <a:extLst xmlns:a="http://schemas.openxmlformats.org/drawingml/2006/main">
              <a:ext uri="{FF2B5EF4-FFF2-40B4-BE49-F238E27FC236}">
                <a16:creationId xmlns:a16="http://schemas.microsoft.com/office/drawing/2014/main" id="{86984A93-4D10-4DA1-A9D8-9D010037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 AOT changes code generation, not graphics architecture</a:t>
            </a:r>
          </a:p>
        </p:txBody>
      </p:sp>
      <p:sp>
        <p:nvSpPr>
          <p:cNvPr id="2" name="live-copy">
            <a:extLst xmlns:a="http://schemas.openxmlformats.org/drawingml/2006/main">
              <a:ext uri="{FF2B5EF4-FFF2-40B4-BE49-F238E27FC236}">
                <a16:creationId xmlns:a16="http://schemas.microsoft.com/office/drawing/2014/main" id="{B40876F0-F88C-4C20-92C1-EA155F5B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85950"/>
            <a:ext cx="4905375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publish pipeline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 enables AOT, trimming, SIMD, and native relinking. ProGPU code becomes native WebAssembly; netDxf is explicitly kept interpreted due to a Mono AOT compiler assertion.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Deploy only artifacts/browser-aot/wwwroot from HTTP(S). Relative assets support static hosts and GitHub Pages.</a:t>
            </a:r>
          </a:p>
        </p:txBody>
      </p:sp>
      <p:sp>
        <p:nvSpPr>
          <p:cNvPr id="3" name="live-image-backing">
            <a:extLst xmlns:a="http://schemas.openxmlformats.org/drawingml/2006/main">
              <a:ext uri="{FF2B5EF4-FFF2-40B4-BE49-F238E27FC236}">
                <a16:creationId xmlns:a16="http://schemas.microsoft.com/office/drawing/2014/main" id="{8582252C-126C-4DEA-9D34-D491BF36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6115050" cy="3438525"/>
          </a:xfrm>
          <a:prstGeom xmlns:a="http://schemas.openxmlformats.org/drawingml/2006/main" prst="roundRect">
            <a:avLst>
              <a:gd name="adj" fmla="val 2216"/>
            </a:avLst>
          </a:prstGeom>
          <a:solidFill xmlns:a="http://schemas.openxmlformats.org/drawingml/2006/main">
            <a:srgbClr val="0C0C1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live-caption-band">
            <a:extLst xmlns:a="http://schemas.openxmlformats.org/drawingml/2006/main">
              <a:ext uri="{FF2B5EF4-FFF2-40B4-BE49-F238E27FC236}">
                <a16:creationId xmlns:a16="http://schemas.microsoft.com/office/drawing/2014/main" id="{50C0FE48-C5A4-44EC-8F85-D3D4CE95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91125"/>
            <a:ext cx="6115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ive-caption">
            <a:extLst xmlns:a="http://schemas.openxmlformats.org/drawingml/2006/main">
              <a:ext uri="{FF2B5EF4-FFF2-40B4-BE49-F238E27FC236}">
                <a16:creationId xmlns:a16="http://schemas.microsoft.com/office/drawing/2014/main" id="{7C3EBDDF-E5A5-47D5-ABC1-13A5D318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410200"/>
            <a:ext cx="561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PUBLISH-TIME MODE  ·  STATIC HOST  ·  SAME WEBGPU PATH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7433747C-2553-4343-A7A7-653EA2BC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db7df52b14c08"/>
          <a:stretch xmlns:a="http://schemas.openxmlformats.org/drawingml/2006/main"/>
        </p:blipFill>
        <p:spPr>
          <a:xfrm xmlns:a="http://schemas.openxmlformats.org/drawingml/2006/main">
            <a:off x="5677958" y="1599657"/>
            <a:ext cx="6112933" cy="336341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078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5">
            <a:extLst xmlns:a="http://schemas.openxmlformats.org/drawingml/2006/main">
              <a:ext uri="{FF2B5EF4-FFF2-40B4-BE49-F238E27FC236}">
                <a16:creationId xmlns:a16="http://schemas.microsoft.com/office/drawing/2014/main" id="{1AE7B18F-0204-47DF-8751-03D267ED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120+ FPS is a retained-work contract, not a quality preset</a:t>
            </a:r>
          </a:p>
        </p:txBody>
      </p:sp>
      <p:sp>
        <p:nvSpPr>
          <p:cNvPr id="2" name="debug-mode">
            <a:extLst xmlns:a="http://schemas.openxmlformats.org/drawingml/2006/main">
              <a:ext uri="{FF2B5EF4-FFF2-40B4-BE49-F238E27FC236}">
                <a16:creationId xmlns:a16="http://schemas.microsoft.com/office/drawing/2014/main" id="{4C1A0435-CEC7-4115-ACAE-9D47C4AE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514350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must remain retained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Compiled scene batches and draw ordering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GPU buffers, textures, layouts, and pipelines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Path and glyph outline identity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Path/Glyph atlas coverage and generations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Camera/zoom through transforms and uniforms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One coarse worker task per managed frame</a:t>
            </a:r>
          </a:p>
        </p:txBody>
      </p:sp>
      <p:sp>
        <p:nvSpPr>
          <p:cNvPr id="3" name="release-mode">
            <a:extLst xmlns:a="http://schemas.openxmlformats.org/drawingml/2006/main">
              <a:ext uri="{FF2B5EF4-FFF2-40B4-BE49-F238E27FC236}">
                <a16:creationId xmlns:a16="http://schemas.microsoft.com/office/drawing/2014/main" id="{449BCF37-B8E2-4BDA-8E80-48D2C1FF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52625"/>
            <a:ext cx="514350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legitimately forces work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Visual ChangeVersion from pixel mutations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Logical/physical target, viewport, or DPI change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Atlas reset/repack generation change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Mutable drawing, effects, masks, diagnostics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Invalid cached-layer texture identity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Resource destruction or WebGPU device loss</a:t>
            </a:r>
          </a:p>
        </p:txBody>
      </p:sp>
      <p:sp>
        <p:nvSpPr>
          <p:cNvPr id="4" name="mode-accent-left">
            <a:extLst xmlns:a="http://schemas.openxmlformats.org/drawingml/2006/main">
              <a:ext uri="{FF2B5EF4-FFF2-40B4-BE49-F238E27FC236}">
                <a16:creationId xmlns:a16="http://schemas.microsoft.com/office/drawing/2014/main" id="{3289F1FE-5FAA-47F8-B21D-49548584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mode-accent-right">
            <a:extLst xmlns:a="http://schemas.openxmlformats.org/drawingml/2006/main">
              <a:ext uri="{FF2B5EF4-FFF2-40B4-BE49-F238E27FC236}">
                <a16:creationId xmlns:a16="http://schemas.microsoft.com/office/drawing/2014/main" id="{3C04500A-1A00-423E-B305-9F1EE73B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6954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mode-summary">
            <a:extLst xmlns:a="http://schemas.openxmlformats.org/drawingml/2006/main">
              <a:ext uri="{FF2B5EF4-FFF2-40B4-BE49-F238E27FC236}">
                <a16:creationId xmlns:a16="http://schemas.microsoft.com/office/drawing/2014/main" id="{F60522A4-6B47-40EB-BBC4-0CB9F91D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19750"/>
            <a:ext cx="952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Never hit the target by skipping invalidation, lowering coverage, or rasterizing crisp vector text every frame.</a:t>
            </a:r>
          </a:p>
        </p:txBody>
      </p:sp>
      <p:sp>
        <p:nvSpPr>
          <p:cNvPr id="7" name="page-5">
            <a:extLst xmlns:a="http://schemas.openxmlformats.org/drawingml/2006/main">
              <a:ext uri="{FF2B5EF4-FFF2-40B4-BE49-F238E27FC236}">
                <a16:creationId xmlns:a16="http://schemas.microsoft.com/office/drawing/2014/main" id="{FFF729F6-AD3B-44C3-AE8C-B4EFCF3C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7071018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BF09421D-852C-41C5-A7CE-A96CE44D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9055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IMPLEMENTATION CODE MAP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9B4C5950-C747-434C-ABAC-ACD83942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38300"/>
            <a:ext cx="1047750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Same retained renderer.</a:t>
            </a:r>
          </a:p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browser-native execution lane.</a:t>
            </a:r>
          </a:p>
        </p:txBody>
      </p:sp>
      <p:sp>
        <p:nvSpPr>
          <p:cNvPr id="3" name="close-details">
            <a:extLst xmlns:a="http://schemas.openxmlformats.org/drawingml/2006/main">
              <a:ext uri="{FF2B5EF4-FFF2-40B4-BE49-F238E27FC236}">
                <a16:creationId xmlns:a16="http://schemas.microsoft.com/office/drawing/2014/main" id="{15FF0F0C-40C9-4866-8517-EDAA13B6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000625"/>
            <a:ext cx="5905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500"/>
              </a:spcAft>
              <a:buNone/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C#: IWebGpuApi → BrowserWebGpuApi → BrowserGpuProtocol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00"/>
              </a:spcAft>
              <a:buNone/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JS: progpu-browser.js → navigator.gpu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Host: BrowserWindowHost → Window.RenderExternalFrame</a:t>
            </a:r>
          </a:p>
        </p:txBody>
      </p:sp>
      <p:sp>
        <p:nvSpPr>
          <p:cNvPr id="4" name="close-sources">
            <a:extLst xmlns:a="http://schemas.openxmlformats.org/drawingml/2006/main">
              <a:ext uri="{FF2B5EF4-FFF2-40B4-BE49-F238E27FC236}">
                <a16:creationId xmlns:a16="http://schemas.microsoft.com/office/drawing/2014/main" id="{5A5684A3-B23B-4729-8954-DEB47447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43575"/>
            <a:ext cx="5219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Start: docs/browser.md · README Browser architecture · src/ProGPU.Browser · src/ProGPU.Samples.Browser</a:t>
            </a:r>
          </a:p>
        </p:txBody>
      </p:sp>
    </p:spTree>
    <p:extLst>
      <p:ext uri="{BB962C8B-B14F-4D97-AF65-F5344CB8AC3E}">
        <p14:creationId xmlns:p14="http://schemas.microsoft.com/office/powerpoint/2010/main" val="12146644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2026-07-16T20:32:35.6470000Z</dcterms:created>
  <dcterms:modified xsi:type="dcterms:W3CDTF">2026-07-16T20:32:35.6470000Z</dcterms:modified>
</coreProperties>
</file>